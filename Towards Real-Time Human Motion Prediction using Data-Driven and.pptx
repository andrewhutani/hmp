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3_9DDEF6F9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8"/>
  </p:notesMasterIdLst>
  <p:sldIdLst>
    <p:sldId id="256" r:id="rId2"/>
    <p:sldId id="257" r:id="rId3"/>
    <p:sldId id="259" r:id="rId4"/>
    <p:sldId id="261" r:id="rId5"/>
    <p:sldId id="262" r:id="rId6"/>
    <p:sldId id="269" r:id="rId7"/>
    <p:sldId id="270" r:id="rId8"/>
    <p:sldId id="263" r:id="rId9"/>
    <p:sldId id="277" r:id="rId10"/>
    <p:sldId id="278" r:id="rId11"/>
    <p:sldId id="264" r:id="rId12"/>
    <p:sldId id="274" r:id="rId13"/>
    <p:sldId id="275" r:id="rId14"/>
    <p:sldId id="267" r:id="rId15"/>
    <p:sldId id="268" r:id="rId16"/>
    <p:sldId id="276" r:id="rId1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D414A7-5193-7DA2-323C-282CECD1D5EC}" name="Andrew Hutani" initials="AH" userId="S::ahutani@tudelft.nl::3eb8c954-c817-4d5a-a86b-9eeed0fa00a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C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100" autoAdjust="0"/>
  </p:normalViewPr>
  <p:slideViewPr>
    <p:cSldViewPr snapToGrid="0">
      <p:cViewPr varScale="1">
        <p:scale>
          <a:sx n="92" d="100"/>
          <a:sy n="92" d="100"/>
        </p:scale>
        <p:origin x="232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103_9DDEF6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FD6955-DB77-461C-B7CF-E4A2B8864216}" authorId="{ACD414A7-5193-7DA2-323C-282CECD1D5EC}" created="2025-05-21T13:06:50.93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48635129" sldId="259"/>
      <ac:picMk id="18" creationId="{725AF02C-D981-9FD3-6B14-441B6351541C}"/>
    </ac:deMkLst>
    <p188:txBody>
      <a:bodyPr/>
      <a:lstStyle/>
      <a:p>
        <a:r>
          <a:rPr lang="LID4096"/>
          <a:t>Add source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671DC-4063-4334-9D47-4A759E30067E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68C47-7660-441E-A984-886D49E7145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819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-presenting the current state of my master thesis, on …</a:t>
            </a:r>
          </a:p>
          <a:p>
            <a:pPr marL="0" indent="0">
              <a:buFontTx/>
              <a:buNone/>
            </a:pPr>
            <a:endParaRPr lang="en-GB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-combines insights from my literature study with the upcoming research plan</a:t>
            </a:r>
          </a:p>
          <a:p>
            <a:pPr marL="171450" indent="-171450">
              <a:buFontTx/>
              <a:buChar char="-"/>
            </a:pP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3508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 explaining my methodology and breaking down the relevant themes I have found in the literature</a:t>
            </a:r>
          </a:p>
          <a:p>
            <a:pPr marL="171450" indent="-171450">
              <a:buFontTx/>
              <a:buChar char="-"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 those insights I will highlight the most common .. and discuss key techniques and trends</a:t>
            </a:r>
          </a:p>
          <a:p>
            <a:pPr marL="171450" indent="-171450">
              <a:buFontTx/>
              <a:buChar char="-"/>
            </a:pP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3582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-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interactive system where drones respond to dancers in real time.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1808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-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My focus is especially on the last category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077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use 2D vision or pose data.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kern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used, and most pre dominantly Graph-based methods. These methods allow for modelling of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pedestrians and objects as nodes in an interaction graph, capturing the dependencies between them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0027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 human and robot actions are separate from each other and have different goals</a:t>
            </a:r>
          </a:p>
          <a:p>
            <a:pPr marL="171450" indent="-171450">
              <a:buFontTx/>
              <a:buChar char="-"/>
            </a:pPr>
            <a:r>
              <a:rPr lang="nl-NL" dirty="0"/>
              <a:t>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 a robot’s </a:t>
            </a:r>
            <a:r>
              <a:rPr lang="en-GB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behavior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depends directly on human motion, like in assembly lines or handover tasks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279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continuous pose forecasting using motion capture data as an input. </a:t>
            </a:r>
          </a:p>
          <a:p>
            <a:pPr marL="171450" indent="-171450">
              <a:buFontTx/>
              <a:buChar char="-"/>
            </a:pPr>
            <a:endParaRPr lang="en-GB" sz="1800" kern="0" dirty="0">
              <a:effectLst/>
              <a:latin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such as RNNs, GCNs. In these types of approaches, a model is trained using a lot of data, where a loss function is used to find the correct model that outputs the correct movement given a certain input.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6313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 time GCNs have become increasingly dominant in the literature. They outperform in </a:t>
            </a:r>
            <a:r>
              <a:rPr lang="en-GB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full-body movement over time and are robust when joints influence each other, for example, your elbow’s position is influenced by your shoulder’s position. However, they can struggle with real-world noise, occlusion, or irregularities in the input data.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320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4631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68C47-7660-441E-A984-886D49E71455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17316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8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3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4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81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5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7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66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9DDEF6F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48550/arxiv.2005.0779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6AE1A-DA2A-64E7-3F1C-4CCAC002A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200" b="0" i="0" dirty="0">
                <a:effectLst/>
                <a:latin typeface="Times New Roman" panose="02020603050405020304" pitchFamily="18" charset="0"/>
              </a:rPr>
              <a:t>Towards Real-Time Human Motion Prediction using Data-Driven and Physics-Based Models</a:t>
            </a:r>
            <a:endParaRPr lang="LID4096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57A17-9E7F-E5D6-8453-738F24416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GB" b="0" i="0">
                <a:effectLst/>
                <a:latin typeface="Times New Roman" panose="02020603050405020304" pitchFamily="18" charset="0"/>
              </a:rPr>
              <a:t>From literature to reality</a:t>
            </a:r>
            <a:endParaRPr lang="LID4096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997F82C-7B12-126B-033B-2E87394F93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79" r="50876" b="10556"/>
          <a:stretch/>
        </p:blipFill>
        <p:spPr>
          <a:xfrm>
            <a:off x="1" y="0"/>
            <a:ext cx="5065560" cy="69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50A1-944D-C878-7D5F-BB68530D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Contents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C8F12-B3FB-E5D1-377A-419C4971879E}"/>
              </a:ext>
            </a:extLst>
          </p:cNvPr>
          <p:cNvSpPr txBox="1"/>
          <p:nvPr/>
        </p:nvSpPr>
        <p:spPr>
          <a:xfrm>
            <a:off x="700635" y="2221992"/>
            <a:ext cx="25586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dirty="0"/>
              <a:t>Motivation &amp; Goal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27D47-FF2F-EFE1-1CAB-6A3B8E4950CF}"/>
              </a:ext>
            </a:extLst>
          </p:cNvPr>
          <p:cNvSpPr txBox="1"/>
          <p:nvPr/>
        </p:nvSpPr>
        <p:spPr>
          <a:xfrm>
            <a:off x="700635" y="2688717"/>
            <a:ext cx="2783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dirty="0"/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42AB5-A649-3B85-E294-D37D5D797D24}"/>
              </a:ext>
            </a:extLst>
          </p:cNvPr>
          <p:cNvSpPr txBox="1"/>
          <p:nvPr/>
        </p:nvSpPr>
        <p:spPr>
          <a:xfrm>
            <a:off x="700635" y="3155442"/>
            <a:ext cx="2704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dirty="0"/>
              <a:t>Model Architectures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31DE4-DDE3-A668-0D35-A31C52F60927}"/>
              </a:ext>
            </a:extLst>
          </p:cNvPr>
          <p:cNvSpPr txBox="1"/>
          <p:nvPr/>
        </p:nvSpPr>
        <p:spPr>
          <a:xfrm>
            <a:off x="700635" y="3622167"/>
            <a:ext cx="26292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dirty="0"/>
              <a:t>Prediction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5F063-E042-2E6B-0C92-F9262631B840}"/>
              </a:ext>
            </a:extLst>
          </p:cNvPr>
          <p:cNvSpPr txBox="1"/>
          <p:nvPr/>
        </p:nvSpPr>
        <p:spPr>
          <a:xfrm>
            <a:off x="700635" y="4088892"/>
            <a:ext cx="3642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dirty="0"/>
              <a:t>Real-Time Focus &amp; Onwards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BF8413-BC32-86C0-8A5C-CCAC62790CCC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1EE972-F91D-BFB8-3881-42783C62E1C2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9113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CD0C-6D54-E5E5-5934-5516BB10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7B8E-71AE-3C6A-4E3A-0058BB5C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Motivation &amp; Context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DBBA9-AEDA-15CC-58AD-FE1407807B11}"/>
              </a:ext>
            </a:extLst>
          </p:cNvPr>
          <p:cNvSpPr txBox="1"/>
          <p:nvPr/>
        </p:nvSpPr>
        <p:spPr>
          <a:xfrm>
            <a:off x="700635" y="6290510"/>
            <a:ext cx="2270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Motivation &amp; Goal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222C06-1230-1FCE-CE4A-651E951F4945}"/>
              </a:ext>
            </a:extLst>
          </p:cNvPr>
          <p:cNvSpPr txBox="1"/>
          <p:nvPr/>
        </p:nvSpPr>
        <p:spPr>
          <a:xfrm>
            <a:off x="3198767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6E1A4D-496B-0725-A197-C8D25D0F1B2F}"/>
              </a:ext>
            </a:extLst>
          </p:cNvPr>
          <p:cNvSpPr txBox="1"/>
          <p:nvPr/>
        </p:nvSpPr>
        <p:spPr>
          <a:xfrm>
            <a:off x="5783129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2642C-7155-1245-D35C-DA6601843531}"/>
              </a:ext>
            </a:extLst>
          </p:cNvPr>
          <p:cNvSpPr txBox="1"/>
          <p:nvPr/>
        </p:nvSpPr>
        <p:spPr>
          <a:xfrm>
            <a:off x="8288943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E3378-B3F4-64C2-956F-C70D947D74F4}"/>
              </a:ext>
            </a:extLst>
          </p:cNvPr>
          <p:cNvSpPr txBox="1"/>
          <p:nvPr/>
        </p:nvSpPr>
        <p:spPr>
          <a:xfrm>
            <a:off x="10794757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96F0E-FC5D-3650-CE36-544B1D2F33AF}"/>
              </a:ext>
            </a:extLst>
          </p:cNvPr>
          <p:cNvSpPr txBox="1"/>
          <p:nvPr/>
        </p:nvSpPr>
        <p:spPr>
          <a:xfrm>
            <a:off x="297074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D7A3D-4094-87E8-E555-686347F100B9}"/>
              </a:ext>
            </a:extLst>
          </p:cNvPr>
          <p:cNvSpPr txBox="1"/>
          <p:nvPr/>
        </p:nvSpPr>
        <p:spPr>
          <a:xfrm>
            <a:off x="8060920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7B8ED-099D-FFA0-D94E-7E1AA9C55BBD}"/>
              </a:ext>
            </a:extLst>
          </p:cNvPr>
          <p:cNvSpPr txBox="1"/>
          <p:nvPr/>
        </p:nvSpPr>
        <p:spPr>
          <a:xfrm>
            <a:off x="5555106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612A89-7AD0-FDD6-DE77-00E417C52EDC}"/>
              </a:ext>
            </a:extLst>
          </p:cNvPr>
          <p:cNvSpPr txBox="1"/>
          <p:nvPr/>
        </p:nvSpPr>
        <p:spPr>
          <a:xfrm>
            <a:off x="1056673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904ED6-C7D3-F9E8-73DE-7B92C45618D1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66874-E608-DAED-03EE-86CFCC39B905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5AF02C-D981-9FD3-6B14-441B63515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27" y="3800176"/>
            <a:ext cx="9097645" cy="21434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058E90-E4F6-9943-260E-626F080D08C4}"/>
              </a:ext>
            </a:extLst>
          </p:cNvPr>
          <p:cNvSpPr txBox="1"/>
          <p:nvPr/>
        </p:nvSpPr>
        <p:spPr>
          <a:xfrm>
            <a:off x="700635" y="1885950"/>
            <a:ext cx="10687657" cy="1269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Shared workspaces between robots and humans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2000" dirty="0"/>
              <a:t>Company motivation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2000" dirty="0"/>
              <a:t>Move beyond offline prediction</a:t>
            </a:r>
            <a:endParaRPr lang="LID4096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227A4-9829-0BCD-AD3E-BD6667A88898}"/>
              </a:ext>
            </a:extLst>
          </p:cNvPr>
          <p:cNvSpPr txBox="1"/>
          <p:nvPr/>
        </p:nvSpPr>
        <p:spPr>
          <a:xfrm>
            <a:off x="9794672" y="3757362"/>
            <a:ext cx="45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[1]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48635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AF00-C116-025B-425C-EAC5EABB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B866-49FB-C102-CDAC-CA5D6B52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Methodology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61955-109D-C2CA-2F04-143F52A5B506}"/>
              </a:ext>
            </a:extLst>
          </p:cNvPr>
          <p:cNvSpPr txBox="1"/>
          <p:nvPr/>
        </p:nvSpPr>
        <p:spPr>
          <a:xfrm>
            <a:off x="700635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03816-A9D6-5860-3C0B-ADE3CD5D5EC4}"/>
              </a:ext>
            </a:extLst>
          </p:cNvPr>
          <p:cNvSpPr txBox="1"/>
          <p:nvPr/>
        </p:nvSpPr>
        <p:spPr>
          <a:xfrm>
            <a:off x="328499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48C39-A58E-BF59-572E-DD92AD534140}"/>
              </a:ext>
            </a:extLst>
          </p:cNvPr>
          <p:cNvSpPr txBox="1"/>
          <p:nvPr/>
        </p:nvSpPr>
        <p:spPr>
          <a:xfrm>
            <a:off x="47261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F2D40-4A99-CECC-6F5B-2678912D882A}"/>
              </a:ext>
            </a:extLst>
          </p:cNvPr>
          <p:cNvSpPr txBox="1"/>
          <p:nvPr/>
        </p:nvSpPr>
        <p:spPr>
          <a:xfrm>
            <a:off x="556278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380C99-FD56-B096-A1E6-CC3CC4C73B1C}"/>
              </a:ext>
            </a:extLst>
          </p:cNvPr>
          <p:cNvSpPr txBox="1"/>
          <p:nvPr/>
        </p:nvSpPr>
        <p:spPr>
          <a:xfrm>
            <a:off x="305697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91BF56-65B0-5F88-8436-D920C941B933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C510EF-74FF-B108-4CCB-6B9110F8E37F}"/>
              </a:ext>
            </a:extLst>
          </p:cNvPr>
          <p:cNvSpPr txBox="1"/>
          <p:nvPr/>
        </p:nvSpPr>
        <p:spPr>
          <a:xfrm>
            <a:off x="700635" y="1885950"/>
            <a:ext cx="106876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Available Human Motion Prediction models</a:t>
            </a:r>
          </a:p>
          <a:p>
            <a:endParaRPr lang="nl-NL" sz="2000" dirty="0"/>
          </a:p>
          <a:p>
            <a:r>
              <a:rPr lang="nl-NL" sz="2000" dirty="0"/>
              <a:t>Two Step approach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000" dirty="0"/>
              <a:t>Global search in Human Intent Prediction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000" dirty="0"/>
              <a:t>Targeted search in Human Motion Prediction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NL" sz="2000" dirty="0"/>
              <a:t>Using insights from the global search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nl-NL" sz="2000" dirty="0"/>
          </a:p>
          <a:p>
            <a:r>
              <a:rPr lang="nl-NL" sz="2000" dirty="0"/>
              <a:t>Resulted in three distinct categories: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000" dirty="0"/>
              <a:t>Pedestrian Intent Prediction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000" dirty="0"/>
              <a:t>Intent Prediction in Human Robot Interaction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000" dirty="0"/>
              <a:t>Human Motion 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41C43A-A53B-E33C-33AE-558599BB2D2A}"/>
              </a:ext>
            </a:extLst>
          </p:cNvPr>
          <p:cNvSpPr txBox="1"/>
          <p:nvPr/>
        </p:nvSpPr>
        <p:spPr>
          <a:xfrm>
            <a:off x="-1801105" y="6290510"/>
            <a:ext cx="2270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Motivation &amp; Goal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FAB91E-82C9-1C0A-407D-DC0E2733C35C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54720-B67F-BFFD-1BB5-918A41730A38}"/>
              </a:ext>
            </a:extLst>
          </p:cNvPr>
          <p:cNvSpPr txBox="1"/>
          <p:nvPr/>
        </p:nvSpPr>
        <p:spPr>
          <a:xfrm>
            <a:off x="5790811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D03813-C0D2-C769-0237-657572B1AB25}"/>
              </a:ext>
            </a:extLst>
          </p:cNvPr>
          <p:cNvSpPr txBox="1"/>
          <p:nvPr/>
        </p:nvSpPr>
        <p:spPr>
          <a:xfrm>
            <a:off x="8296625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82B181-707A-65D8-454A-384357B60E70}"/>
              </a:ext>
            </a:extLst>
          </p:cNvPr>
          <p:cNvSpPr txBox="1"/>
          <p:nvPr/>
        </p:nvSpPr>
        <p:spPr>
          <a:xfrm>
            <a:off x="806860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22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2B0B5-DE4E-FC45-DB43-75DA9846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63067-8030-6E5F-F201-26243044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Thematic Breakdown – Pedestrian Intent PRediction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CEDB9-B43E-18B9-8C9E-BEC7C0450B99}"/>
              </a:ext>
            </a:extLst>
          </p:cNvPr>
          <p:cNvSpPr txBox="1"/>
          <p:nvPr/>
        </p:nvSpPr>
        <p:spPr>
          <a:xfrm>
            <a:off x="-2481583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DDB81-D9A3-5696-3891-8C0A82885ED2}"/>
              </a:ext>
            </a:extLst>
          </p:cNvPr>
          <p:cNvSpPr txBox="1"/>
          <p:nvPr/>
        </p:nvSpPr>
        <p:spPr>
          <a:xfrm>
            <a:off x="700635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DAA96-C7E0-1410-30EB-3BE231DA2BB1}"/>
              </a:ext>
            </a:extLst>
          </p:cNvPr>
          <p:cNvSpPr txBox="1"/>
          <p:nvPr/>
        </p:nvSpPr>
        <p:spPr>
          <a:xfrm>
            <a:off x="328499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5F004-DEAB-E61B-D523-CDB7B0E54ED1}"/>
              </a:ext>
            </a:extLst>
          </p:cNvPr>
          <p:cNvSpPr txBox="1"/>
          <p:nvPr/>
        </p:nvSpPr>
        <p:spPr>
          <a:xfrm>
            <a:off x="47261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B0CA1-AFA3-92CD-9493-B946C72C74FB}"/>
              </a:ext>
            </a:extLst>
          </p:cNvPr>
          <p:cNvSpPr txBox="1"/>
          <p:nvPr/>
        </p:nvSpPr>
        <p:spPr>
          <a:xfrm>
            <a:off x="556278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DC2C6-B3B8-C5A7-DA0C-07CF466F3C7D}"/>
              </a:ext>
            </a:extLst>
          </p:cNvPr>
          <p:cNvSpPr txBox="1"/>
          <p:nvPr/>
        </p:nvSpPr>
        <p:spPr>
          <a:xfrm>
            <a:off x="305697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728833-BB51-0733-C38E-83A962B7A149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CC6526-A52E-C9C5-14C9-F7630A8FF582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E207B-8D83-22F2-4DCC-8B3384C0190B}"/>
              </a:ext>
            </a:extLst>
          </p:cNvPr>
          <p:cNvSpPr txBox="1"/>
          <p:nvPr/>
        </p:nvSpPr>
        <p:spPr>
          <a:xfrm>
            <a:off x="700635" y="2221992"/>
            <a:ext cx="10687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Most often posed as Classification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Trained on urban imagery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Neural Networks are used, most pre dominantly Graph-based 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7DF5C-F4C8-318C-7CC6-DF11F1404C60}"/>
              </a:ext>
            </a:extLst>
          </p:cNvPr>
          <p:cNvSpPr txBox="1"/>
          <p:nvPr/>
        </p:nvSpPr>
        <p:spPr>
          <a:xfrm>
            <a:off x="5790811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2086A9-5116-1562-A933-B9C3EE69063C}"/>
              </a:ext>
            </a:extLst>
          </p:cNvPr>
          <p:cNvSpPr txBox="1"/>
          <p:nvPr/>
        </p:nvSpPr>
        <p:spPr>
          <a:xfrm>
            <a:off x="8296625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26813B-BB4E-0AA5-9BDD-9A4A0F4277D1}"/>
              </a:ext>
            </a:extLst>
          </p:cNvPr>
          <p:cNvSpPr txBox="1"/>
          <p:nvPr/>
        </p:nvSpPr>
        <p:spPr>
          <a:xfrm>
            <a:off x="806860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2D8F55-90B2-09D2-1024-F9B4ECA25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592" y="3911600"/>
            <a:ext cx="809625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7FD34C-EEA4-3873-E5E4-0691F7884E75}"/>
              </a:ext>
            </a:extLst>
          </p:cNvPr>
          <p:cNvSpPr txBox="1"/>
          <p:nvPr/>
        </p:nvSpPr>
        <p:spPr>
          <a:xfrm>
            <a:off x="10013895" y="3886919"/>
            <a:ext cx="45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[2]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88258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35E5-83EB-9A9F-DE02-31E9F44C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E8B0-453B-B382-1EC2-4D79504E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Thematic Breakdown – </a:t>
            </a:r>
            <a:r>
              <a:rPr lang="nl-NL" sz="4000" dirty="0"/>
              <a:t>Intent Prediction in HRI</a:t>
            </a:r>
            <a:br>
              <a:rPr lang="nl-NL" sz="4000" dirty="0"/>
            </a:b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30E48-4968-6A92-41FA-8FA9397BAAB5}"/>
              </a:ext>
            </a:extLst>
          </p:cNvPr>
          <p:cNvSpPr txBox="1"/>
          <p:nvPr/>
        </p:nvSpPr>
        <p:spPr>
          <a:xfrm>
            <a:off x="-2481583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501D8-5CB9-CA38-0BF0-A56616E320BB}"/>
              </a:ext>
            </a:extLst>
          </p:cNvPr>
          <p:cNvSpPr txBox="1"/>
          <p:nvPr/>
        </p:nvSpPr>
        <p:spPr>
          <a:xfrm>
            <a:off x="700635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0BB0A-21F7-0688-D1A3-D9A8113315B6}"/>
              </a:ext>
            </a:extLst>
          </p:cNvPr>
          <p:cNvSpPr txBox="1"/>
          <p:nvPr/>
        </p:nvSpPr>
        <p:spPr>
          <a:xfrm>
            <a:off x="328499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9D821-BA62-E3BF-8C76-8735A0AEDEE4}"/>
              </a:ext>
            </a:extLst>
          </p:cNvPr>
          <p:cNvSpPr txBox="1"/>
          <p:nvPr/>
        </p:nvSpPr>
        <p:spPr>
          <a:xfrm>
            <a:off x="47261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90857-DAA2-80C4-5143-B7BB37E88163}"/>
              </a:ext>
            </a:extLst>
          </p:cNvPr>
          <p:cNvSpPr txBox="1"/>
          <p:nvPr/>
        </p:nvSpPr>
        <p:spPr>
          <a:xfrm>
            <a:off x="556278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2D239-1273-0F5A-6317-3624F81529F7}"/>
              </a:ext>
            </a:extLst>
          </p:cNvPr>
          <p:cNvSpPr txBox="1"/>
          <p:nvPr/>
        </p:nvSpPr>
        <p:spPr>
          <a:xfrm>
            <a:off x="305697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7A831-110E-97AD-412A-218A962B566D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65ED2B-92A8-BB4B-08B0-3A07D526EC36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501C45-5981-A1BA-923B-59F46A4049AD}"/>
              </a:ext>
            </a:extLst>
          </p:cNvPr>
          <p:cNvSpPr txBox="1"/>
          <p:nvPr/>
        </p:nvSpPr>
        <p:spPr>
          <a:xfrm>
            <a:off x="700635" y="1885950"/>
            <a:ext cx="59722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Split into: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Independent Task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Collaborative Task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Usually has strict sets of 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Makes use of probalistic frameworks (e.g. Markov Decision Processes)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F2730-3914-0DED-90ED-3F3859D8BDFF}"/>
              </a:ext>
            </a:extLst>
          </p:cNvPr>
          <p:cNvSpPr txBox="1"/>
          <p:nvPr/>
        </p:nvSpPr>
        <p:spPr>
          <a:xfrm>
            <a:off x="5790811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1ADDE0-4A94-CF70-6C99-AA410BD172E7}"/>
              </a:ext>
            </a:extLst>
          </p:cNvPr>
          <p:cNvSpPr txBox="1"/>
          <p:nvPr/>
        </p:nvSpPr>
        <p:spPr>
          <a:xfrm>
            <a:off x="8296625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A2EA05-D4AC-7D3A-E7B5-2E6C8D0A6F01}"/>
              </a:ext>
            </a:extLst>
          </p:cNvPr>
          <p:cNvSpPr txBox="1"/>
          <p:nvPr/>
        </p:nvSpPr>
        <p:spPr>
          <a:xfrm>
            <a:off x="806860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E0AC1C-AE63-58C8-3FEB-33CA46A81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80" y="1568196"/>
            <a:ext cx="4142428" cy="3139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FCA661-8014-977B-1E2F-A0A77EB9BAB3}"/>
              </a:ext>
            </a:extLst>
          </p:cNvPr>
          <p:cNvSpPr txBox="1"/>
          <p:nvPr/>
        </p:nvSpPr>
        <p:spPr>
          <a:xfrm>
            <a:off x="6851498" y="1568196"/>
            <a:ext cx="53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[3]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4986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55FA8-EDA6-C823-6840-D988EDB6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305E-E66A-4D91-E3BE-52CA6812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Thematic Breakdown – </a:t>
            </a:r>
            <a:r>
              <a:rPr lang="nl-NL" sz="4000" dirty="0"/>
              <a:t>Human Motion Prediction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F3F0C-43B4-76C6-FD9C-B34FDF7BD806}"/>
              </a:ext>
            </a:extLst>
          </p:cNvPr>
          <p:cNvSpPr txBox="1"/>
          <p:nvPr/>
        </p:nvSpPr>
        <p:spPr>
          <a:xfrm>
            <a:off x="-2481583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BA7449-4AAB-FE02-3FF4-629CC8DB2646}"/>
              </a:ext>
            </a:extLst>
          </p:cNvPr>
          <p:cNvSpPr txBox="1"/>
          <p:nvPr/>
        </p:nvSpPr>
        <p:spPr>
          <a:xfrm>
            <a:off x="700635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9F84C-988D-AE20-7BFB-F77613A3589C}"/>
              </a:ext>
            </a:extLst>
          </p:cNvPr>
          <p:cNvSpPr txBox="1"/>
          <p:nvPr/>
        </p:nvSpPr>
        <p:spPr>
          <a:xfrm>
            <a:off x="328499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F6641-CF2F-8075-1B5D-E482BB76EACD}"/>
              </a:ext>
            </a:extLst>
          </p:cNvPr>
          <p:cNvSpPr txBox="1"/>
          <p:nvPr/>
        </p:nvSpPr>
        <p:spPr>
          <a:xfrm>
            <a:off x="47261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E927DB-4236-2948-DEA1-F23ADA47865A}"/>
              </a:ext>
            </a:extLst>
          </p:cNvPr>
          <p:cNvSpPr txBox="1"/>
          <p:nvPr/>
        </p:nvSpPr>
        <p:spPr>
          <a:xfrm>
            <a:off x="556278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C7A5F0-0D2C-CA2C-1209-F34CD1801F25}"/>
              </a:ext>
            </a:extLst>
          </p:cNvPr>
          <p:cNvSpPr txBox="1"/>
          <p:nvPr/>
        </p:nvSpPr>
        <p:spPr>
          <a:xfrm>
            <a:off x="305697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6CAE2-5533-499B-0D1D-76D1A12FDCAD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D0519-83A8-129D-17B1-2B42579F45C9}"/>
              </a:ext>
            </a:extLst>
          </p:cNvPr>
          <p:cNvSpPr txBox="1"/>
          <p:nvPr/>
        </p:nvSpPr>
        <p:spPr>
          <a:xfrm>
            <a:off x="700635" y="2221992"/>
            <a:ext cx="106876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Continuous pose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Mainly uses motion capture data, transformed into skeleton keypoints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r>
              <a:rPr lang="nl-NL" sz="2000" dirty="0"/>
              <a:t>Has two main methods: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Data-Driven approaches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Physics-Based 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F31F4D-2B2D-46D3-A0A9-AE29A5BCAABA}"/>
              </a:ext>
            </a:extLst>
          </p:cNvPr>
          <p:cNvSpPr txBox="1"/>
          <p:nvPr/>
        </p:nvSpPr>
        <p:spPr>
          <a:xfrm>
            <a:off x="5790811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C8B5B-F97E-7366-E2A8-6EBB96B2DD43}"/>
              </a:ext>
            </a:extLst>
          </p:cNvPr>
          <p:cNvSpPr txBox="1"/>
          <p:nvPr/>
        </p:nvSpPr>
        <p:spPr>
          <a:xfrm>
            <a:off x="8296625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1B538-B3E7-F872-DB84-B6086DD4F472}"/>
              </a:ext>
            </a:extLst>
          </p:cNvPr>
          <p:cNvSpPr txBox="1"/>
          <p:nvPr/>
        </p:nvSpPr>
        <p:spPr>
          <a:xfrm>
            <a:off x="806860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1EEE68-9763-4C4F-5A03-849706027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391" y="1568196"/>
            <a:ext cx="2423901" cy="41354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D931BE-1E4C-C595-285B-B59513882D49}"/>
              </a:ext>
            </a:extLst>
          </p:cNvPr>
          <p:cNvSpPr txBox="1"/>
          <p:nvPr/>
        </p:nvSpPr>
        <p:spPr>
          <a:xfrm>
            <a:off x="8803930" y="1743870"/>
            <a:ext cx="475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/>
              <a:t>[4]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78562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C090-F46C-A702-8953-71C4EF564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1DB2-0611-FB68-0D77-526F725C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Key Techniques &amp; Trends</a:t>
            </a:r>
            <a:endParaRPr lang="LID4096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2E6B0F-06E6-F62C-7016-D919CDFEC26B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2FEEEB-26F5-07C6-57F2-05E8D400123D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70983D-6FC8-1AAF-6CD0-5CE02BB05411}"/>
              </a:ext>
            </a:extLst>
          </p:cNvPr>
          <p:cNvSpPr txBox="1"/>
          <p:nvPr/>
        </p:nvSpPr>
        <p:spPr>
          <a:xfrm>
            <a:off x="700636" y="1885950"/>
            <a:ext cx="46989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Data-driven approaches</a:t>
            </a:r>
            <a:r>
              <a:rPr lang="nl-NL" sz="2000" dirty="0"/>
              <a:t>: </a:t>
            </a:r>
          </a:p>
          <a:p>
            <a:r>
              <a:rPr lang="nl-NL" sz="2000" dirty="0"/>
              <a:t>Driven by pattern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endParaRPr lang="nl-NL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D408CB-8CF4-1CCE-06E3-C76E933B1C66}"/>
              </a:ext>
            </a:extLst>
          </p:cNvPr>
          <p:cNvSpPr txBox="1"/>
          <p:nvPr/>
        </p:nvSpPr>
        <p:spPr>
          <a:xfrm>
            <a:off x="6792384" y="1885950"/>
            <a:ext cx="4698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Physics-based models</a:t>
            </a:r>
          </a:p>
          <a:p>
            <a:r>
              <a:rPr lang="nl-NL" sz="2000" dirty="0"/>
              <a:t>Grounded in rules of physics/dynamics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F0BFDF-0DE8-4CA7-0BFA-C37D476296D3}"/>
              </a:ext>
            </a:extLst>
          </p:cNvPr>
          <p:cNvSpPr txBox="1"/>
          <p:nvPr/>
        </p:nvSpPr>
        <p:spPr>
          <a:xfrm>
            <a:off x="697027" y="2809124"/>
            <a:ext cx="39748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RNN: Sequential modeling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GCN: Spatial modeling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5C1A22-9192-9314-C94A-71A35D192450}"/>
              </a:ext>
            </a:extLst>
          </p:cNvPr>
          <p:cNvSpPr txBox="1"/>
          <p:nvPr/>
        </p:nvSpPr>
        <p:spPr>
          <a:xfrm>
            <a:off x="6792384" y="2809124"/>
            <a:ext cx="46989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Differential equations (like Euler-Lagrange)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Dynamic constraints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26D3EA-E0C5-ACF7-5B41-C38637E79129}"/>
              </a:ext>
            </a:extLst>
          </p:cNvPr>
          <p:cNvSpPr txBox="1"/>
          <p:nvPr/>
        </p:nvSpPr>
        <p:spPr>
          <a:xfrm>
            <a:off x="-5038363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3F2D14-F785-85D0-5F50-6FD4E48F5625}"/>
              </a:ext>
            </a:extLst>
          </p:cNvPr>
          <p:cNvSpPr txBox="1"/>
          <p:nvPr/>
        </p:nvSpPr>
        <p:spPr>
          <a:xfrm>
            <a:off x="-1856145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FEE252-08F8-BD67-D282-E3FB9A9D11F4}"/>
              </a:ext>
            </a:extLst>
          </p:cNvPr>
          <p:cNvSpPr txBox="1"/>
          <p:nvPr/>
        </p:nvSpPr>
        <p:spPr>
          <a:xfrm>
            <a:off x="72821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Model Architectures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AF3F05-1B4F-F8A0-A973-87CB8D17450E}"/>
              </a:ext>
            </a:extLst>
          </p:cNvPr>
          <p:cNvSpPr txBox="1"/>
          <p:nvPr/>
        </p:nvSpPr>
        <p:spPr>
          <a:xfrm>
            <a:off x="-208416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45133D-94C2-D149-0022-6CF8FC1525F3}"/>
              </a:ext>
            </a:extLst>
          </p:cNvPr>
          <p:cNvSpPr txBox="1"/>
          <p:nvPr/>
        </p:nvSpPr>
        <p:spPr>
          <a:xfrm>
            <a:off x="300600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474848-EAA8-522E-B81D-A369125F24F8}"/>
              </a:ext>
            </a:extLst>
          </p:cNvPr>
          <p:cNvSpPr txBox="1"/>
          <p:nvPr/>
        </p:nvSpPr>
        <p:spPr>
          <a:xfrm>
            <a:off x="50019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ECC63E-84B2-BC7A-6402-9A2334456A1A}"/>
              </a:ext>
            </a:extLst>
          </p:cNvPr>
          <p:cNvSpPr txBox="1"/>
          <p:nvPr/>
        </p:nvSpPr>
        <p:spPr>
          <a:xfrm>
            <a:off x="3234031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EC0504-2660-9DAB-5F7C-A8B8B794C68D}"/>
              </a:ext>
            </a:extLst>
          </p:cNvPr>
          <p:cNvSpPr txBox="1"/>
          <p:nvPr/>
        </p:nvSpPr>
        <p:spPr>
          <a:xfrm>
            <a:off x="5739845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597FA3-24CE-BB61-9700-CD8C6BB50941}"/>
              </a:ext>
            </a:extLst>
          </p:cNvPr>
          <p:cNvSpPr txBox="1"/>
          <p:nvPr/>
        </p:nvSpPr>
        <p:spPr>
          <a:xfrm>
            <a:off x="551182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681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1C14-3110-1358-8744-93CEFC34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1651-707D-9ED0-59C3-580E9BC6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Key Techniques &amp; Trends</a:t>
            </a:r>
            <a:endParaRPr lang="LID4096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94787-C829-5144-3213-F8C37BB4EFA1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01E523-43DA-C5E6-9614-90974EE720D4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19846D-3C0E-A2B9-3BD4-84D599A7B84C}"/>
              </a:ext>
            </a:extLst>
          </p:cNvPr>
          <p:cNvSpPr txBox="1"/>
          <p:nvPr/>
        </p:nvSpPr>
        <p:spPr>
          <a:xfrm>
            <a:off x="700636" y="1885950"/>
            <a:ext cx="46989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Data-driven approaches</a:t>
            </a:r>
            <a:r>
              <a:rPr lang="nl-NL" sz="2000" dirty="0"/>
              <a:t>: </a:t>
            </a:r>
          </a:p>
          <a:p>
            <a:r>
              <a:rPr lang="nl-NL" sz="2000" dirty="0"/>
              <a:t>Driven by pattern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endParaRPr lang="nl-NL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0064A-F4CC-D44C-92A5-48E58EF4405C}"/>
              </a:ext>
            </a:extLst>
          </p:cNvPr>
          <p:cNvSpPr txBox="1"/>
          <p:nvPr/>
        </p:nvSpPr>
        <p:spPr>
          <a:xfrm>
            <a:off x="6792384" y="1885950"/>
            <a:ext cx="4698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Physics-based models</a:t>
            </a:r>
          </a:p>
          <a:p>
            <a:r>
              <a:rPr lang="nl-NL" sz="2000" dirty="0"/>
              <a:t>Grounded in rules of physics/dynamics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063F0C-EDB8-AA89-AE5B-85ABF7686A5B}"/>
              </a:ext>
            </a:extLst>
          </p:cNvPr>
          <p:cNvSpPr txBox="1"/>
          <p:nvPr/>
        </p:nvSpPr>
        <p:spPr>
          <a:xfrm>
            <a:off x="697027" y="2809124"/>
            <a:ext cx="48777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alisto MT" panose="02040603050505030304" pitchFamily="18" charset="0"/>
              <a:buChar char="+"/>
            </a:pPr>
            <a:r>
              <a:rPr lang="nl-NL" sz="2000" dirty="0"/>
              <a:t>Great at capturing dependencies over a longer horizon</a:t>
            </a:r>
          </a:p>
          <a:p>
            <a:pPr marL="342900" indent="-342900">
              <a:buFont typeface="Calisto MT" panose="02040603050505030304" pitchFamily="18" charset="0"/>
              <a:buChar char="+"/>
            </a:pPr>
            <a:r>
              <a:rPr lang="nl-NL" sz="2000" dirty="0"/>
              <a:t>GCNs can capture spatial depencencies between joints</a:t>
            </a:r>
          </a:p>
          <a:p>
            <a:pPr marL="342900" indent="-342900">
              <a:buFont typeface="Calisto MT" panose="02040603050505030304" pitchFamily="18" charset="0"/>
              <a:buChar char="+"/>
            </a:pPr>
            <a:endParaRPr lang="nl-NL" sz="2000" dirty="0"/>
          </a:p>
          <a:p>
            <a:pPr marL="342900" indent="-342900">
              <a:buFont typeface="Calisto MT" panose="02040603050505030304" pitchFamily="18" charset="0"/>
              <a:buChar char="-"/>
            </a:pPr>
            <a:r>
              <a:rPr lang="nl-NL" sz="2000" dirty="0"/>
              <a:t>Can generate “impossible” poses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D3E2F1-26E7-6A4A-AB98-69F78BA981C2}"/>
              </a:ext>
            </a:extLst>
          </p:cNvPr>
          <p:cNvSpPr txBox="1"/>
          <p:nvPr/>
        </p:nvSpPr>
        <p:spPr>
          <a:xfrm>
            <a:off x="6792384" y="2809124"/>
            <a:ext cx="46989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alisto MT" panose="02040603050505030304" pitchFamily="18" charset="0"/>
              <a:buChar char="+"/>
            </a:pPr>
            <a:r>
              <a:rPr lang="nl-NL" sz="2000" dirty="0"/>
              <a:t>Great at capturing dependencies over a shorter horizon</a:t>
            </a:r>
          </a:p>
          <a:p>
            <a:pPr marL="342900" indent="-342900">
              <a:buFont typeface="Calisto MT" panose="02040603050505030304" pitchFamily="18" charset="0"/>
              <a:buChar char="+"/>
            </a:pPr>
            <a:r>
              <a:rPr lang="nl-NL" sz="2000" dirty="0"/>
              <a:t>Enforces plausible movement patterns</a:t>
            </a:r>
          </a:p>
          <a:p>
            <a:pPr marL="342900" indent="-342900">
              <a:buFont typeface="Calisto MT" panose="02040603050505030304" pitchFamily="18" charset="0"/>
              <a:buChar char="+"/>
            </a:pPr>
            <a:endParaRPr lang="nl-NL" sz="2000" dirty="0"/>
          </a:p>
          <a:p>
            <a:pPr marL="342900" indent="-342900">
              <a:buFont typeface="Calisto MT" panose="02040603050505030304" pitchFamily="18" charset="0"/>
              <a:buChar char="+"/>
            </a:pPr>
            <a:endParaRPr lang="nl-NL" sz="2000" dirty="0"/>
          </a:p>
          <a:p>
            <a:pPr marL="342900" indent="-342900">
              <a:buFont typeface="Calisto MT" panose="02040603050505030304" pitchFamily="18" charset="0"/>
              <a:buChar char="-"/>
            </a:pPr>
            <a:r>
              <a:rPr lang="nl-NL" sz="2000" dirty="0"/>
              <a:t>Performance deteriotates when prediciting for long horizons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71AA94-AC40-7545-9404-C37B934C3B1D}"/>
              </a:ext>
            </a:extLst>
          </p:cNvPr>
          <p:cNvSpPr txBox="1"/>
          <p:nvPr/>
        </p:nvSpPr>
        <p:spPr>
          <a:xfrm>
            <a:off x="-5038363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44E981-4F8E-41E0-6E25-DE9BE0723E1A}"/>
              </a:ext>
            </a:extLst>
          </p:cNvPr>
          <p:cNvSpPr txBox="1"/>
          <p:nvPr/>
        </p:nvSpPr>
        <p:spPr>
          <a:xfrm>
            <a:off x="-1856145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33FFA9-B407-D987-29D6-0D24FC29AD52}"/>
              </a:ext>
            </a:extLst>
          </p:cNvPr>
          <p:cNvSpPr txBox="1"/>
          <p:nvPr/>
        </p:nvSpPr>
        <p:spPr>
          <a:xfrm>
            <a:off x="72821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Model Architectures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C25160-70AC-8DEA-53AF-D08588551AA6}"/>
              </a:ext>
            </a:extLst>
          </p:cNvPr>
          <p:cNvSpPr txBox="1"/>
          <p:nvPr/>
        </p:nvSpPr>
        <p:spPr>
          <a:xfrm>
            <a:off x="-208416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072B88-274C-FAA1-D3D9-0900EDBA0FE1}"/>
              </a:ext>
            </a:extLst>
          </p:cNvPr>
          <p:cNvSpPr txBox="1"/>
          <p:nvPr/>
        </p:nvSpPr>
        <p:spPr>
          <a:xfrm>
            <a:off x="300600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DC05A2-BE6E-851B-77C8-C67CD958CA76}"/>
              </a:ext>
            </a:extLst>
          </p:cNvPr>
          <p:cNvSpPr txBox="1"/>
          <p:nvPr/>
        </p:nvSpPr>
        <p:spPr>
          <a:xfrm>
            <a:off x="50019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92B646-C1FF-3C4C-9581-217A4FEF6D02}"/>
              </a:ext>
            </a:extLst>
          </p:cNvPr>
          <p:cNvSpPr txBox="1"/>
          <p:nvPr/>
        </p:nvSpPr>
        <p:spPr>
          <a:xfrm>
            <a:off x="3234031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48EDCA-09D1-F38E-79E9-0CEF2495A543}"/>
              </a:ext>
            </a:extLst>
          </p:cNvPr>
          <p:cNvSpPr txBox="1"/>
          <p:nvPr/>
        </p:nvSpPr>
        <p:spPr>
          <a:xfrm>
            <a:off x="5739845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4FB296-EA61-1E84-B757-993249E7D1E7}"/>
              </a:ext>
            </a:extLst>
          </p:cNvPr>
          <p:cNvSpPr txBox="1"/>
          <p:nvPr/>
        </p:nvSpPr>
        <p:spPr>
          <a:xfrm>
            <a:off x="551182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83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FE91A-E208-1FCE-F681-2AFB9CC2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30D3-708D-1D62-D269-BC926DF6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Key Techniques &amp; Trends</a:t>
            </a:r>
            <a:endParaRPr lang="LID4096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AD5E7A-5DAF-5FE2-8456-C30A17996846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7ED784-6C69-7579-7D77-3DAF16549F40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E5C8CB-F596-B3F2-4634-DB00868EE893}"/>
              </a:ext>
            </a:extLst>
          </p:cNvPr>
          <p:cNvSpPr txBox="1"/>
          <p:nvPr/>
        </p:nvSpPr>
        <p:spPr>
          <a:xfrm>
            <a:off x="700636" y="1885950"/>
            <a:ext cx="46989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Data-driven approaches</a:t>
            </a:r>
            <a:r>
              <a:rPr lang="nl-NL" sz="2000" dirty="0"/>
              <a:t>: </a:t>
            </a:r>
          </a:p>
          <a:p>
            <a:r>
              <a:rPr lang="nl-NL" sz="2000" dirty="0"/>
              <a:t>Driven by pattern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endParaRPr lang="nl-NL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24BDF-0CF7-D955-87B5-56645CF8D1E8}"/>
              </a:ext>
            </a:extLst>
          </p:cNvPr>
          <p:cNvSpPr txBox="1"/>
          <p:nvPr/>
        </p:nvSpPr>
        <p:spPr>
          <a:xfrm>
            <a:off x="6792384" y="1885950"/>
            <a:ext cx="4698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Physics-based models</a:t>
            </a:r>
          </a:p>
          <a:p>
            <a:r>
              <a:rPr lang="nl-NL" sz="2000" dirty="0"/>
              <a:t>Grounded in rules of physics/dynamics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EF4E7E-C2ED-B057-CEDD-91D24AF792C5}"/>
              </a:ext>
            </a:extLst>
          </p:cNvPr>
          <p:cNvSpPr txBox="1"/>
          <p:nvPr/>
        </p:nvSpPr>
        <p:spPr>
          <a:xfrm>
            <a:off x="-5038363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5E3605-3A9C-DD5E-2405-CA222248D3AD}"/>
              </a:ext>
            </a:extLst>
          </p:cNvPr>
          <p:cNvSpPr txBox="1"/>
          <p:nvPr/>
        </p:nvSpPr>
        <p:spPr>
          <a:xfrm>
            <a:off x="-1856145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C4E2AC-9A61-3518-B7E4-D81251D05801}"/>
              </a:ext>
            </a:extLst>
          </p:cNvPr>
          <p:cNvSpPr txBox="1"/>
          <p:nvPr/>
        </p:nvSpPr>
        <p:spPr>
          <a:xfrm>
            <a:off x="72821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Model Architectures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E8F916-2482-654F-8806-64B5EDC629BD}"/>
              </a:ext>
            </a:extLst>
          </p:cNvPr>
          <p:cNvSpPr txBox="1"/>
          <p:nvPr/>
        </p:nvSpPr>
        <p:spPr>
          <a:xfrm>
            <a:off x="-208416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7F008F-F718-D5EC-DEC3-6BED8230BB97}"/>
              </a:ext>
            </a:extLst>
          </p:cNvPr>
          <p:cNvSpPr txBox="1"/>
          <p:nvPr/>
        </p:nvSpPr>
        <p:spPr>
          <a:xfrm>
            <a:off x="300600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4140C0-691C-3EDB-7D2C-7FDAAEAE1785}"/>
              </a:ext>
            </a:extLst>
          </p:cNvPr>
          <p:cNvSpPr txBox="1"/>
          <p:nvPr/>
        </p:nvSpPr>
        <p:spPr>
          <a:xfrm>
            <a:off x="50019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DF33D9-9B2B-8750-1330-CB72D195E786}"/>
              </a:ext>
            </a:extLst>
          </p:cNvPr>
          <p:cNvSpPr txBox="1"/>
          <p:nvPr/>
        </p:nvSpPr>
        <p:spPr>
          <a:xfrm>
            <a:off x="3234031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0B93E5-EC44-9C3E-EE1F-E8E7C9EBB6FD}"/>
              </a:ext>
            </a:extLst>
          </p:cNvPr>
          <p:cNvSpPr txBox="1"/>
          <p:nvPr/>
        </p:nvSpPr>
        <p:spPr>
          <a:xfrm>
            <a:off x="5739845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E8B48F-1109-519C-5F59-BE5665393794}"/>
              </a:ext>
            </a:extLst>
          </p:cNvPr>
          <p:cNvSpPr txBox="1"/>
          <p:nvPr/>
        </p:nvSpPr>
        <p:spPr>
          <a:xfrm>
            <a:off x="551182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4E65D-71F8-C8CB-0FA6-40899553DD56}"/>
              </a:ext>
            </a:extLst>
          </p:cNvPr>
          <p:cNvSpPr txBox="1"/>
          <p:nvPr/>
        </p:nvSpPr>
        <p:spPr>
          <a:xfrm>
            <a:off x="3621388" y="3780453"/>
            <a:ext cx="48461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Hybrid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Physics-based part </a:t>
            </a:r>
            <a:r>
              <a:rPr lang="nl-NL" sz="2000" dirty="0">
                <a:latin typeface="Aptos" panose="020B0004020202020204" pitchFamily="34" charset="0"/>
              </a:rPr>
              <a:t>→ </a:t>
            </a:r>
            <a:r>
              <a:rPr lang="nl-NL" sz="2000" dirty="0"/>
              <a:t>Short-term horizon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Data-driven </a:t>
            </a:r>
            <a:r>
              <a:rPr lang="nl-NL" sz="2000" dirty="0">
                <a:latin typeface="Aptos" panose="020B0004020202020204" pitchFamily="34" charset="0"/>
              </a:rPr>
              <a:t>→ </a:t>
            </a:r>
            <a:r>
              <a:rPr lang="nl-NL" sz="2000" dirty="0"/>
              <a:t>Long-term horizon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EB5B621E-E00D-EB3A-9B43-6B16D504148B}"/>
              </a:ext>
            </a:extLst>
          </p:cNvPr>
          <p:cNvCxnSpPr>
            <a:cxnSpLocks/>
            <a:endCxn id="3" idx="0"/>
          </p:cNvCxnSpPr>
          <p:nvPr/>
        </p:nvCxnSpPr>
        <p:spPr>
          <a:xfrm rot="16200000" flipH="1">
            <a:off x="3953986" y="1689975"/>
            <a:ext cx="1186617" cy="2994337"/>
          </a:xfrm>
          <a:prstGeom prst="curvedConnector3">
            <a:avLst>
              <a:gd name="adj1" fmla="val 4464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1E7A16D-9CB6-76CF-C3A8-3991DAA7D3A4}"/>
              </a:ext>
            </a:extLst>
          </p:cNvPr>
          <p:cNvCxnSpPr>
            <a:cxnSpLocks/>
            <a:endCxn id="3" idx="0"/>
          </p:cNvCxnSpPr>
          <p:nvPr/>
        </p:nvCxnSpPr>
        <p:spPr>
          <a:xfrm rot="5400000">
            <a:off x="6999861" y="1638439"/>
            <a:ext cx="1186617" cy="3097411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455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B53E0-069C-52E8-21DC-6CFC9275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AF48-9778-0958-ADB2-F4B9BA1B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From Past Poses to Future Motion</a:t>
            </a:r>
            <a:endParaRPr lang="LID4096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459E97-C51A-3715-23B0-40D158402733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FA1759-2F92-9BAA-563A-476E4D8DD9C1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8" name="ezgif-377f657d924007">
            <a:hlinkClick r:id="" action="ppaction://media"/>
            <a:extLst>
              <a:ext uri="{FF2B5EF4-FFF2-40B4-BE49-F238E27FC236}">
                <a16:creationId xmlns:a16="http://schemas.microsoft.com/office/drawing/2014/main" id="{6B5CEA72-13CE-FAE5-AE5F-0867CBCC29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44489" y="1568196"/>
            <a:ext cx="3951019" cy="39510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5D3D6D-9E8D-10AB-99A7-1B4A375F4F52}"/>
              </a:ext>
            </a:extLst>
          </p:cNvPr>
          <p:cNvSpPr txBox="1"/>
          <p:nvPr/>
        </p:nvSpPr>
        <p:spPr>
          <a:xfrm>
            <a:off x="700636" y="1885950"/>
            <a:ext cx="46989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Input 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Frames of joint coordinate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Fixed amount of frames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75F39-BA5C-FC27-4F34-1E13D261D258}"/>
              </a:ext>
            </a:extLst>
          </p:cNvPr>
          <p:cNvSpPr txBox="1"/>
          <p:nvPr/>
        </p:nvSpPr>
        <p:spPr>
          <a:xfrm>
            <a:off x="-7575367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E88AC-E21F-3A1C-1EDB-5EF312258B75}"/>
              </a:ext>
            </a:extLst>
          </p:cNvPr>
          <p:cNvSpPr txBox="1"/>
          <p:nvPr/>
        </p:nvSpPr>
        <p:spPr>
          <a:xfrm>
            <a:off x="-4393149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B4B359-01FA-0EA1-F1FA-E71C5C7DE035}"/>
              </a:ext>
            </a:extLst>
          </p:cNvPr>
          <p:cNvSpPr txBox="1"/>
          <p:nvPr/>
        </p:nvSpPr>
        <p:spPr>
          <a:xfrm>
            <a:off x="-180878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A0925B-6CE1-570F-6D7B-5FCD866941EF}"/>
              </a:ext>
            </a:extLst>
          </p:cNvPr>
          <p:cNvSpPr txBox="1"/>
          <p:nvPr/>
        </p:nvSpPr>
        <p:spPr>
          <a:xfrm>
            <a:off x="-462117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D12AD1-6A43-5249-F0F4-749D787BE4DC}"/>
              </a:ext>
            </a:extLst>
          </p:cNvPr>
          <p:cNvSpPr txBox="1"/>
          <p:nvPr/>
        </p:nvSpPr>
        <p:spPr>
          <a:xfrm>
            <a:off x="46900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AF58B-0524-6DED-3AB1-03E4C13AC69C}"/>
              </a:ext>
            </a:extLst>
          </p:cNvPr>
          <p:cNvSpPr txBox="1"/>
          <p:nvPr/>
        </p:nvSpPr>
        <p:spPr>
          <a:xfrm>
            <a:off x="-2036810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374490-54DD-7D88-4142-F22AB1983A49}"/>
              </a:ext>
            </a:extLst>
          </p:cNvPr>
          <p:cNvSpPr txBox="1"/>
          <p:nvPr/>
        </p:nvSpPr>
        <p:spPr>
          <a:xfrm>
            <a:off x="697027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Prediction Example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942781-39C6-7D70-3A57-224D03C497A9}"/>
              </a:ext>
            </a:extLst>
          </p:cNvPr>
          <p:cNvSpPr txBox="1"/>
          <p:nvPr/>
        </p:nvSpPr>
        <p:spPr>
          <a:xfrm>
            <a:off x="3202841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7CC3B1-62A5-7042-4F84-522956F5D70E}"/>
              </a:ext>
            </a:extLst>
          </p:cNvPr>
          <p:cNvSpPr txBox="1"/>
          <p:nvPr/>
        </p:nvSpPr>
        <p:spPr>
          <a:xfrm>
            <a:off x="297481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181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B53E0-069C-52E8-21DC-6CFC9275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AF48-9778-0958-ADB2-F4B9BA1B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From Past Poses to Future Motion</a:t>
            </a:r>
            <a:endParaRPr lang="LID4096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459E97-C51A-3715-23B0-40D158402733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FA1759-2F92-9BAA-563A-476E4D8DD9C1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D3D6D-9E8D-10AB-99A7-1B4A375F4F52}"/>
              </a:ext>
            </a:extLst>
          </p:cNvPr>
          <p:cNvSpPr txBox="1"/>
          <p:nvPr/>
        </p:nvSpPr>
        <p:spPr>
          <a:xfrm>
            <a:off x="700635" y="1885950"/>
            <a:ext cx="51418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Input 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Frames of joint coordinate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Fixed amount of frames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r>
              <a:rPr lang="nl-NL" sz="2000" dirty="0"/>
              <a:t>Output 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Predicts up to one second into the future</a:t>
            </a:r>
          </a:p>
          <a:p>
            <a:endParaRPr lang="nl-NL" sz="2000" dirty="0"/>
          </a:p>
          <a:p>
            <a:r>
              <a:rPr lang="nl-NL" sz="2000" dirty="0"/>
              <a:t>Ground Truth 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Used to evaluate the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</p:txBody>
      </p:sp>
      <p:pic>
        <p:nvPicPr>
          <p:cNvPr id="12" name="ezgif-8af95fbe20dc10">
            <a:hlinkClick r:id="" action="ppaction://media"/>
            <a:extLst>
              <a:ext uri="{FF2B5EF4-FFF2-40B4-BE49-F238E27FC236}">
                <a16:creationId xmlns:a16="http://schemas.microsoft.com/office/drawing/2014/main" id="{182F0A06-2FBD-379E-D1E3-3DD6344460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42708" y="1568196"/>
            <a:ext cx="3952800" cy="3952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D53051B-72A4-7168-AF22-8EC013889C2B}"/>
              </a:ext>
            </a:extLst>
          </p:cNvPr>
          <p:cNvSpPr txBox="1"/>
          <p:nvPr/>
        </p:nvSpPr>
        <p:spPr>
          <a:xfrm>
            <a:off x="-7575367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96A25-948D-6D9D-B5E5-5AE99C5EA8D1}"/>
              </a:ext>
            </a:extLst>
          </p:cNvPr>
          <p:cNvSpPr txBox="1"/>
          <p:nvPr/>
        </p:nvSpPr>
        <p:spPr>
          <a:xfrm>
            <a:off x="-4393149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A967B7-C8FD-C3BF-0CC4-428873261D27}"/>
              </a:ext>
            </a:extLst>
          </p:cNvPr>
          <p:cNvSpPr txBox="1"/>
          <p:nvPr/>
        </p:nvSpPr>
        <p:spPr>
          <a:xfrm>
            <a:off x="-1808787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97E403-9506-F90A-2C87-DCBFBF4BA636}"/>
              </a:ext>
            </a:extLst>
          </p:cNvPr>
          <p:cNvSpPr txBox="1"/>
          <p:nvPr/>
        </p:nvSpPr>
        <p:spPr>
          <a:xfrm>
            <a:off x="-462117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E6EE74-613F-97A0-F6FC-7E0066A147EF}"/>
              </a:ext>
            </a:extLst>
          </p:cNvPr>
          <p:cNvSpPr txBox="1"/>
          <p:nvPr/>
        </p:nvSpPr>
        <p:spPr>
          <a:xfrm>
            <a:off x="46900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A7C7E1-F881-BCC1-319E-F67445C62983}"/>
              </a:ext>
            </a:extLst>
          </p:cNvPr>
          <p:cNvSpPr txBox="1"/>
          <p:nvPr/>
        </p:nvSpPr>
        <p:spPr>
          <a:xfrm>
            <a:off x="-2036810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51D1E4-EA08-D19F-54AF-D29EE93064F8}"/>
              </a:ext>
            </a:extLst>
          </p:cNvPr>
          <p:cNvSpPr txBox="1"/>
          <p:nvPr/>
        </p:nvSpPr>
        <p:spPr>
          <a:xfrm>
            <a:off x="697027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Prediction Example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7E6505-5658-96DA-0DD9-83BF58074517}"/>
              </a:ext>
            </a:extLst>
          </p:cNvPr>
          <p:cNvSpPr txBox="1"/>
          <p:nvPr/>
        </p:nvSpPr>
        <p:spPr>
          <a:xfrm>
            <a:off x="3202841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Real-Time Focus &amp; Onwards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CCB676-32A1-E6B9-C00F-BA6461DD5718}"/>
              </a:ext>
            </a:extLst>
          </p:cNvPr>
          <p:cNvSpPr txBox="1"/>
          <p:nvPr/>
        </p:nvSpPr>
        <p:spPr>
          <a:xfrm>
            <a:off x="297481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033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52B05-9418-C2DC-CB51-42EA8E7E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nl-NL" dirty="0"/>
              <a:t>Limitations in Literature</a:t>
            </a:r>
            <a:endParaRPr lang="LID4096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D37F2F-87FD-1A48-92B3-3BBC381780AC}"/>
              </a:ext>
            </a:extLst>
          </p:cNvPr>
          <p:cNvSpPr/>
          <p:nvPr/>
        </p:nvSpPr>
        <p:spPr>
          <a:xfrm>
            <a:off x="700088" y="2222500"/>
            <a:ext cx="3341191" cy="3740150"/>
          </a:xfrm>
          <a:custGeom>
            <a:avLst/>
            <a:gdLst>
              <a:gd name="connsiteX0" fmla="*/ 0 w 3341191"/>
              <a:gd name="connsiteY0" fmla="*/ 0 h 3740150"/>
              <a:gd name="connsiteX1" fmla="*/ 3341191 w 3341191"/>
              <a:gd name="connsiteY1" fmla="*/ 0 h 3740150"/>
              <a:gd name="connsiteX2" fmla="*/ 3341191 w 3341191"/>
              <a:gd name="connsiteY2" fmla="*/ 3740150 h 3740150"/>
              <a:gd name="connsiteX3" fmla="*/ 0 w 3341191"/>
              <a:gd name="connsiteY3" fmla="*/ 3740150 h 3740150"/>
              <a:gd name="connsiteX4" fmla="*/ 0 w 3341191"/>
              <a:gd name="connsiteY4" fmla="*/ 0 h 37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1191" h="3740150">
                <a:moveTo>
                  <a:pt x="0" y="0"/>
                </a:moveTo>
                <a:lnTo>
                  <a:pt x="3341191" y="0"/>
                </a:lnTo>
                <a:lnTo>
                  <a:pt x="3341191" y="3740150"/>
                </a:lnTo>
                <a:lnTo>
                  <a:pt x="0" y="374015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0492" tIns="1751457" rIns="260492" bIns="405003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nl-NL" sz="2600" kern="1200" dirty="0"/>
              <a:t>Lack of Global predictions</a:t>
            </a:r>
            <a:endParaRPr lang="en-US" sz="2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936E1F7-8497-31B0-6CB9-7F5992E6AF54}"/>
              </a:ext>
            </a:extLst>
          </p:cNvPr>
          <p:cNvSpPr/>
          <p:nvPr/>
        </p:nvSpPr>
        <p:spPr>
          <a:xfrm>
            <a:off x="1809661" y="2596514"/>
            <a:ext cx="1122045" cy="1122045"/>
          </a:xfrm>
          <a:custGeom>
            <a:avLst/>
            <a:gdLst>
              <a:gd name="connsiteX0" fmla="*/ 0 w 1122045"/>
              <a:gd name="connsiteY0" fmla="*/ 561023 h 1122045"/>
              <a:gd name="connsiteX1" fmla="*/ 561023 w 1122045"/>
              <a:gd name="connsiteY1" fmla="*/ 0 h 1122045"/>
              <a:gd name="connsiteX2" fmla="*/ 1122046 w 1122045"/>
              <a:gd name="connsiteY2" fmla="*/ 561023 h 1122045"/>
              <a:gd name="connsiteX3" fmla="*/ 561023 w 1122045"/>
              <a:gd name="connsiteY3" fmla="*/ 1122046 h 1122045"/>
              <a:gd name="connsiteX4" fmla="*/ 0 w 1122045"/>
              <a:gd name="connsiteY4" fmla="*/ 561023 h 112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045" h="1122045">
                <a:moveTo>
                  <a:pt x="0" y="561023"/>
                </a:moveTo>
                <a:cubicBezTo>
                  <a:pt x="0" y="251179"/>
                  <a:pt x="251179" y="0"/>
                  <a:pt x="561023" y="0"/>
                </a:cubicBezTo>
                <a:cubicBezTo>
                  <a:pt x="870867" y="0"/>
                  <a:pt x="1122046" y="251179"/>
                  <a:pt x="1122046" y="561023"/>
                </a:cubicBezTo>
                <a:cubicBezTo>
                  <a:pt x="1122046" y="870867"/>
                  <a:pt x="870867" y="1122046"/>
                  <a:pt x="561023" y="1122046"/>
                </a:cubicBezTo>
                <a:cubicBezTo>
                  <a:pt x="251179" y="1122046"/>
                  <a:pt x="0" y="870867"/>
                  <a:pt x="0" y="561023"/>
                </a:cubicBezTo>
                <a:close/>
              </a:path>
            </a:pathLst>
          </a:cu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1799" tIns="177020" rIns="251799" bIns="177020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973A13-6D50-9904-D4BB-A8F4FFA407DE}"/>
              </a:ext>
            </a:extLst>
          </p:cNvPr>
          <p:cNvSpPr/>
          <p:nvPr/>
        </p:nvSpPr>
        <p:spPr>
          <a:xfrm>
            <a:off x="700088" y="5962578"/>
            <a:ext cx="3341191" cy="72"/>
          </a:xfrm>
          <a:prstGeom prst="rect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45A84C4-4A5E-A762-EF6D-9BC2A55B77DA}"/>
              </a:ext>
            </a:extLst>
          </p:cNvPr>
          <p:cNvSpPr/>
          <p:nvPr/>
        </p:nvSpPr>
        <p:spPr>
          <a:xfrm>
            <a:off x="4375398" y="2222500"/>
            <a:ext cx="3341191" cy="3740150"/>
          </a:xfrm>
          <a:custGeom>
            <a:avLst/>
            <a:gdLst>
              <a:gd name="connsiteX0" fmla="*/ 0 w 3341191"/>
              <a:gd name="connsiteY0" fmla="*/ 0 h 3740150"/>
              <a:gd name="connsiteX1" fmla="*/ 3341191 w 3341191"/>
              <a:gd name="connsiteY1" fmla="*/ 0 h 3740150"/>
              <a:gd name="connsiteX2" fmla="*/ 3341191 w 3341191"/>
              <a:gd name="connsiteY2" fmla="*/ 3740150 h 3740150"/>
              <a:gd name="connsiteX3" fmla="*/ 0 w 3341191"/>
              <a:gd name="connsiteY3" fmla="*/ 3740150 h 3740150"/>
              <a:gd name="connsiteX4" fmla="*/ 0 w 3341191"/>
              <a:gd name="connsiteY4" fmla="*/ 0 h 37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1191" h="3740150">
                <a:moveTo>
                  <a:pt x="0" y="0"/>
                </a:moveTo>
                <a:lnTo>
                  <a:pt x="3341191" y="0"/>
                </a:lnTo>
                <a:lnTo>
                  <a:pt x="3341191" y="3740150"/>
                </a:lnTo>
                <a:lnTo>
                  <a:pt x="0" y="374015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0492" tIns="1751457" rIns="260492" bIns="405003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nl-NL" sz="2600" kern="1200" dirty="0"/>
              <a:t>Lack of Real-World application</a:t>
            </a:r>
            <a:endParaRPr lang="en-US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0AC612B-0477-37C6-8183-93D18E6F0A8E}"/>
              </a:ext>
            </a:extLst>
          </p:cNvPr>
          <p:cNvSpPr/>
          <p:nvPr/>
        </p:nvSpPr>
        <p:spPr>
          <a:xfrm>
            <a:off x="5484971" y="2596514"/>
            <a:ext cx="1122045" cy="1122045"/>
          </a:xfrm>
          <a:custGeom>
            <a:avLst/>
            <a:gdLst>
              <a:gd name="connsiteX0" fmla="*/ 0 w 1122045"/>
              <a:gd name="connsiteY0" fmla="*/ 561023 h 1122045"/>
              <a:gd name="connsiteX1" fmla="*/ 561023 w 1122045"/>
              <a:gd name="connsiteY1" fmla="*/ 0 h 1122045"/>
              <a:gd name="connsiteX2" fmla="*/ 1122046 w 1122045"/>
              <a:gd name="connsiteY2" fmla="*/ 561023 h 1122045"/>
              <a:gd name="connsiteX3" fmla="*/ 561023 w 1122045"/>
              <a:gd name="connsiteY3" fmla="*/ 1122046 h 1122045"/>
              <a:gd name="connsiteX4" fmla="*/ 0 w 1122045"/>
              <a:gd name="connsiteY4" fmla="*/ 561023 h 112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045" h="1122045">
                <a:moveTo>
                  <a:pt x="0" y="561023"/>
                </a:moveTo>
                <a:cubicBezTo>
                  <a:pt x="0" y="251179"/>
                  <a:pt x="251179" y="0"/>
                  <a:pt x="561023" y="0"/>
                </a:cubicBezTo>
                <a:cubicBezTo>
                  <a:pt x="870867" y="0"/>
                  <a:pt x="1122046" y="251179"/>
                  <a:pt x="1122046" y="561023"/>
                </a:cubicBezTo>
                <a:cubicBezTo>
                  <a:pt x="1122046" y="870867"/>
                  <a:pt x="870867" y="1122046"/>
                  <a:pt x="561023" y="1122046"/>
                </a:cubicBezTo>
                <a:cubicBezTo>
                  <a:pt x="251179" y="1122046"/>
                  <a:pt x="0" y="870867"/>
                  <a:pt x="0" y="561023"/>
                </a:cubicBezTo>
                <a:close/>
              </a:path>
            </a:pathLst>
          </a:cu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1799" tIns="177020" rIns="251799" bIns="177020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/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021B96-5B31-2C76-C648-15102A348F1F}"/>
              </a:ext>
            </a:extLst>
          </p:cNvPr>
          <p:cNvSpPr/>
          <p:nvPr/>
        </p:nvSpPr>
        <p:spPr>
          <a:xfrm>
            <a:off x="4375398" y="5962578"/>
            <a:ext cx="3341191" cy="72"/>
          </a:xfrm>
          <a:prstGeom prst="rect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FC05EEE-11D6-A9CC-CD4D-08BB585EE93E}"/>
              </a:ext>
            </a:extLst>
          </p:cNvPr>
          <p:cNvSpPr/>
          <p:nvPr/>
        </p:nvSpPr>
        <p:spPr>
          <a:xfrm>
            <a:off x="8050708" y="2222500"/>
            <a:ext cx="3341191" cy="3740150"/>
          </a:xfrm>
          <a:custGeom>
            <a:avLst/>
            <a:gdLst>
              <a:gd name="connsiteX0" fmla="*/ 0 w 3341191"/>
              <a:gd name="connsiteY0" fmla="*/ 0 h 3740150"/>
              <a:gd name="connsiteX1" fmla="*/ 3341191 w 3341191"/>
              <a:gd name="connsiteY1" fmla="*/ 0 h 3740150"/>
              <a:gd name="connsiteX2" fmla="*/ 3341191 w 3341191"/>
              <a:gd name="connsiteY2" fmla="*/ 3740150 h 3740150"/>
              <a:gd name="connsiteX3" fmla="*/ 0 w 3341191"/>
              <a:gd name="connsiteY3" fmla="*/ 3740150 h 3740150"/>
              <a:gd name="connsiteX4" fmla="*/ 0 w 3341191"/>
              <a:gd name="connsiteY4" fmla="*/ 0 h 37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1191" h="3740150">
                <a:moveTo>
                  <a:pt x="0" y="0"/>
                </a:moveTo>
                <a:lnTo>
                  <a:pt x="3341191" y="0"/>
                </a:lnTo>
                <a:lnTo>
                  <a:pt x="3341191" y="3740150"/>
                </a:lnTo>
                <a:lnTo>
                  <a:pt x="0" y="374015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0492" tIns="1751457" rIns="260492" bIns="405003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nl-NL" sz="2600" kern="1200"/>
              <a:t>Lack of Real-Time predictions</a:t>
            </a:r>
            <a:endParaRPr lang="en-US" sz="2600" kern="120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6560126-ADC8-8CC4-9F9F-6776BA22DE98}"/>
              </a:ext>
            </a:extLst>
          </p:cNvPr>
          <p:cNvSpPr/>
          <p:nvPr/>
        </p:nvSpPr>
        <p:spPr>
          <a:xfrm>
            <a:off x="9160281" y="2596514"/>
            <a:ext cx="1122045" cy="1122045"/>
          </a:xfrm>
          <a:custGeom>
            <a:avLst/>
            <a:gdLst>
              <a:gd name="connsiteX0" fmla="*/ 0 w 1122045"/>
              <a:gd name="connsiteY0" fmla="*/ 561023 h 1122045"/>
              <a:gd name="connsiteX1" fmla="*/ 561023 w 1122045"/>
              <a:gd name="connsiteY1" fmla="*/ 0 h 1122045"/>
              <a:gd name="connsiteX2" fmla="*/ 1122046 w 1122045"/>
              <a:gd name="connsiteY2" fmla="*/ 561023 h 1122045"/>
              <a:gd name="connsiteX3" fmla="*/ 561023 w 1122045"/>
              <a:gd name="connsiteY3" fmla="*/ 1122046 h 1122045"/>
              <a:gd name="connsiteX4" fmla="*/ 0 w 1122045"/>
              <a:gd name="connsiteY4" fmla="*/ 561023 h 112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045" h="1122045">
                <a:moveTo>
                  <a:pt x="0" y="561023"/>
                </a:moveTo>
                <a:cubicBezTo>
                  <a:pt x="0" y="251179"/>
                  <a:pt x="251179" y="0"/>
                  <a:pt x="561023" y="0"/>
                </a:cubicBezTo>
                <a:cubicBezTo>
                  <a:pt x="870867" y="0"/>
                  <a:pt x="1122046" y="251179"/>
                  <a:pt x="1122046" y="561023"/>
                </a:cubicBezTo>
                <a:cubicBezTo>
                  <a:pt x="1122046" y="870867"/>
                  <a:pt x="870867" y="1122046"/>
                  <a:pt x="561023" y="1122046"/>
                </a:cubicBezTo>
                <a:cubicBezTo>
                  <a:pt x="251179" y="1122046"/>
                  <a:pt x="0" y="870867"/>
                  <a:pt x="0" y="561023"/>
                </a:cubicBezTo>
                <a:close/>
              </a:path>
            </a:pathLst>
          </a:cu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1799" tIns="177020" rIns="251799" bIns="177020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/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87E6A0-896B-F694-B036-A344553C03F7}"/>
              </a:ext>
            </a:extLst>
          </p:cNvPr>
          <p:cNvSpPr/>
          <p:nvPr/>
        </p:nvSpPr>
        <p:spPr>
          <a:xfrm>
            <a:off x="8050708" y="5962578"/>
            <a:ext cx="3341191" cy="72"/>
          </a:xfrm>
          <a:prstGeom prst="rect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DFADD-798C-10C1-10F2-14EAB0C16EFE}"/>
              </a:ext>
            </a:extLst>
          </p:cNvPr>
          <p:cNvSpPr txBox="1"/>
          <p:nvPr/>
        </p:nvSpPr>
        <p:spPr>
          <a:xfrm>
            <a:off x="-10103329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40396-E203-C2A9-65CE-762B580D019E}"/>
              </a:ext>
            </a:extLst>
          </p:cNvPr>
          <p:cNvSpPr txBox="1"/>
          <p:nvPr/>
        </p:nvSpPr>
        <p:spPr>
          <a:xfrm>
            <a:off x="-6921111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90F41-A892-F9B3-74B3-790F627AA316}"/>
              </a:ext>
            </a:extLst>
          </p:cNvPr>
          <p:cNvSpPr txBox="1"/>
          <p:nvPr/>
        </p:nvSpPr>
        <p:spPr>
          <a:xfrm>
            <a:off x="-4336749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2BA4C-0B07-A5F9-E815-B2CBA5BE59F7}"/>
              </a:ext>
            </a:extLst>
          </p:cNvPr>
          <p:cNvSpPr txBox="1"/>
          <p:nvPr/>
        </p:nvSpPr>
        <p:spPr>
          <a:xfrm>
            <a:off x="-1830935" y="6290510"/>
            <a:ext cx="2340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Prediction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EB761-72FD-FC18-DE4D-5058624BDCCA}"/>
              </a:ext>
            </a:extLst>
          </p:cNvPr>
          <p:cNvSpPr txBox="1"/>
          <p:nvPr/>
        </p:nvSpPr>
        <p:spPr>
          <a:xfrm>
            <a:off x="697027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Real-Time Focus &amp; Onwards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532FD-7FE1-B458-A912-605CC66624F0}"/>
              </a:ext>
            </a:extLst>
          </p:cNvPr>
          <p:cNvSpPr txBox="1"/>
          <p:nvPr/>
        </p:nvSpPr>
        <p:spPr>
          <a:xfrm>
            <a:off x="-714913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9698B-5627-B637-1049-B665EDF52DD0}"/>
              </a:ext>
            </a:extLst>
          </p:cNvPr>
          <p:cNvSpPr txBox="1"/>
          <p:nvPr/>
        </p:nvSpPr>
        <p:spPr>
          <a:xfrm>
            <a:off x="-205895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13A787-E652-B921-DF4B-DBAD16DF4F6D}"/>
              </a:ext>
            </a:extLst>
          </p:cNvPr>
          <p:cNvSpPr txBox="1"/>
          <p:nvPr/>
        </p:nvSpPr>
        <p:spPr>
          <a:xfrm>
            <a:off x="-456477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55074-6CA3-4021-8386-E421FAE16E58}"/>
              </a:ext>
            </a:extLst>
          </p:cNvPr>
          <p:cNvSpPr txBox="1"/>
          <p:nvPr/>
        </p:nvSpPr>
        <p:spPr>
          <a:xfrm>
            <a:off x="46900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C6BC11-F20A-D08A-5EEA-89E111C736E4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9042EB-B081-58D7-AA94-65A6AF2EAA11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094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ECEC0-8EE7-8A92-43E7-BA3942E0F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6C88-6B2E-284D-EC04-500FD089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Thesis Plan &amp; Timeline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764A7-D33A-CF0E-8950-80AEDB1D2341}"/>
              </a:ext>
            </a:extLst>
          </p:cNvPr>
          <p:cNvSpPr txBox="1"/>
          <p:nvPr/>
        </p:nvSpPr>
        <p:spPr>
          <a:xfrm>
            <a:off x="-12274346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B9FE4-2072-75EE-7B49-352EB6AE7EFA}"/>
              </a:ext>
            </a:extLst>
          </p:cNvPr>
          <p:cNvSpPr txBox="1"/>
          <p:nvPr/>
        </p:nvSpPr>
        <p:spPr>
          <a:xfrm>
            <a:off x="-9092128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44EFA-3527-964F-F4CD-0B5F6C6691F9}"/>
              </a:ext>
            </a:extLst>
          </p:cNvPr>
          <p:cNvSpPr txBox="1"/>
          <p:nvPr/>
        </p:nvSpPr>
        <p:spPr>
          <a:xfrm>
            <a:off x="-6507766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37DC8-0A35-F29C-4CDC-D783DBE54707}"/>
              </a:ext>
            </a:extLst>
          </p:cNvPr>
          <p:cNvSpPr txBox="1"/>
          <p:nvPr/>
        </p:nvSpPr>
        <p:spPr>
          <a:xfrm>
            <a:off x="-4001952" y="6290510"/>
            <a:ext cx="4698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Deep Dives: Two Representative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0F2C8-D6A2-FE1B-27CF-732E0CA18A88}"/>
              </a:ext>
            </a:extLst>
          </p:cNvPr>
          <p:cNvSpPr txBox="1"/>
          <p:nvPr/>
        </p:nvSpPr>
        <p:spPr>
          <a:xfrm>
            <a:off x="697027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Real-Time Focus &amp; Onwards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BA480-2CF7-875A-DBD3-E349AF0F999C}"/>
              </a:ext>
            </a:extLst>
          </p:cNvPr>
          <p:cNvSpPr txBox="1"/>
          <p:nvPr/>
        </p:nvSpPr>
        <p:spPr>
          <a:xfrm>
            <a:off x="-9320151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E9A2A-1BC4-06F9-C229-DB0F9DD84A8D}"/>
              </a:ext>
            </a:extLst>
          </p:cNvPr>
          <p:cNvSpPr txBox="1"/>
          <p:nvPr/>
        </p:nvSpPr>
        <p:spPr>
          <a:xfrm>
            <a:off x="-4229975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23E97-2769-99D0-B12C-2ACAEBDAF7E3}"/>
              </a:ext>
            </a:extLst>
          </p:cNvPr>
          <p:cNvSpPr txBox="1"/>
          <p:nvPr/>
        </p:nvSpPr>
        <p:spPr>
          <a:xfrm>
            <a:off x="-6735789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489E15-538F-29BB-F41C-5E1EE367C65E}"/>
              </a:ext>
            </a:extLst>
          </p:cNvPr>
          <p:cNvSpPr txBox="1"/>
          <p:nvPr/>
        </p:nvSpPr>
        <p:spPr>
          <a:xfrm>
            <a:off x="46900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A4A204-2283-B082-F613-3C3F17E8EC4C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E54CCF-922C-4F89-65CA-AFA8BDA99D3D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3CB2356-14D9-DEE0-A80A-771861040502}"/>
              </a:ext>
            </a:extLst>
          </p:cNvPr>
          <p:cNvGrpSpPr/>
          <p:nvPr/>
        </p:nvGrpSpPr>
        <p:grpSpPr>
          <a:xfrm>
            <a:off x="694007" y="2221992"/>
            <a:ext cx="10803986" cy="2899375"/>
            <a:chOff x="-306913" y="2002672"/>
            <a:chExt cx="13085582" cy="351166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1405F6F-B3FE-D0E9-6F4C-A651AB4DAF53}"/>
                </a:ext>
              </a:extLst>
            </p:cNvPr>
            <p:cNvGrpSpPr/>
            <p:nvPr/>
          </p:nvGrpSpPr>
          <p:grpSpPr>
            <a:xfrm>
              <a:off x="2133086" y="2987279"/>
              <a:ext cx="7925828" cy="2527061"/>
              <a:chOff x="0" y="380999"/>
              <a:chExt cx="8909787" cy="2968154"/>
            </a:xfrm>
          </p:grpSpPr>
          <p:pic>
            <p:nvPicPr>
              <p:cNvPr id="13" name="Picture 12" descr="A yellow tape with a yellow stripe&#10;&#10;AI-generated content may be incorrect.">
                <a:extLst>
                  <a:ext uri="{FF2B5EF4-FFF2-40B4-BE49-F238E27FC236}">
                    <a16:creationId xmlns:a16="http://schemas.microsoft.com/office/drawing/2014/main" id="{7E7AFC08-3A5E-DA89-D82F-17D5FE75E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9853" b="9302"/>
              <a:stretch/>
            </p:blipFill>
            <p:spPr>
              <a:xfrm>
                <a:off x="0" y="381000"/>
                <a:ext cx="3282215" cy="2968153"/>
              </a:xfrm>
              <a:prstGeom prst="rect">
                <a:avLst/>
              </a:prstGeom>
            </p:spPr>
          </p:pic>
          <p:pic>
            <p:nvPicPr>
              <p:cNvPr id="14" name="Picture 13" descr="A yellow tape with a yellow stripe&#10;&#10;AI-generated content may be incorrect.">
                <a:extLst>
                  <a:ext uri="{FF2B5EF4-FFF2-40B4-BE49-F238E27FC236}">
                    <a16:creationId xmlns:a16="http://schemas.microsoft.com/office/drawing/2014/main" id="{E427547A-307D-DD15-6C8A-3CCA96274B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41" b="9302"/>
              <a:stretch/>
            </p:blipFill>
            <p:spPr>
              <a:xfrm>
                <a:off x="5666073" y="380999"/>
                <a:ext cx="3243714" cy="2968153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84E517-94A4-0E4B-3C63-D0CE3857ACA3}"/>
                  </a:ext>
                </a:extLst>
              </p:cNvPr>
              <p:cNvSpPr/>
              <p:nvPr/>
            </p:nvSpPr>
            <p:spPr>
              <a:xfrm>
                <a:off x="3282215" y="1278731"/>
                <a:ext cx="2383857" cy="1454944"/>
              </a:xfrm>
              <a:prstGeom prst="rect">
                <a:avLst/>
              </a:prstGeom>
              <a:solidFill>
                <a:srgbClr val="FBB31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EC5393-8E52-4A14-3D69-2A9C37451FA1}"/>
                </a:ext>
              </a:extLst>
            </p:cNvPr>
            <p:cNvSpPr txBox="1"/>
            <p:nvPr/>
          </p:nvSpPr>
          <p:spPr>
            <a:xfrm>
              <a:off x="-306913" y="3445390"/>
              <a:ext cx="2534887" cy="44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Model Architecture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55784C-091F-A571-2260-263FF55CB54B}"/>
                </a:ext>
              </a:extLst>
            </p:cNvPr>
            <p:cNvSpPr txBox="1"/>
            <p:nvPr/>
          </p:nvSpPr>
          <p:spPr>
            <a:xfrm>
              <a:off x="17353" y="4147299"/>
              <a:ext cx="2114638" cy="44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Dataset Choice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3F1F2C-2650-6C65-AD27-EF1121761C2B}"/>
                </a:ext>
              </a:extLst>
            </p:cNvPr>
            <p:cNvSpPr txBox="1"/>
            <p:nvPr/>
          </p:nvSpPr>
          <p:spPr>
            <a:xfrm>
              <a:off x="-126349" y="4838082"/>
              <a:ext cx="2258340" cy="44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Sensor Modality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31C6A6-245F-0F1F-51CC-0C8493DEC6DD}"/>
                </a:ext>
              </a:extLst>
            </p:cNvPr>
            <p:cNvSpPr txBox="1"/>
            <p:nvPr/>
          </p:nvSpPr>
          <p:spPr>
            <a:xfrm>
              <a:off x="9882527" y="3221726"/>
              <a:ext cx="2896142" cy="44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Performance Issues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5DDACC-22B3-A0A2-35B3-670A1A95F1F3}"/>
                </a:ext>
              </a:extLst>
            </p:cNvPr>
            <p:cNvSpPr txBox="1"/>
            <p:nvPr/>
          </p:nvSpPr>
          <p:spPr>
            <a:xfrm>
              <a:off x="9882526" y="3825241"/>
              <a:ext cx="1723549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Latency Issues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9CEF80A-F4B6-4992-AAAD-D24D4F3A071A}"/>
                </a:ext>
              </a:extLst>
            </p:cNvPr>
            <p:cNvSpPr txBox="1"/>
            <p:nvPr/>
          </p:nvSpPr>
          <p:spPr>
            <a:xfrm>
              <a:off x="9882526" y="4440779"/>
              <a:ext cx="1569660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Model Fusion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553D74-A908-5774-F1A5-C46830DDB696}"/>
                </a:ext>
              </a:extLst>
            </p:cNvPr>
            <p:cNvSpPr txBox="1"/>
            <p:nvPr/>
          </p:nvSpPr>
          <p:spPr>
            <a:xfrm>
              <a:off x="9880951" y="5056317"/>
              <a:ext cx="1749197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User Feedback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719152-CC2E-C7AF-90C0-8177DA71AF6F}"/>
                </a:ext>
              </a:extLst>
            </p:cNvPr>
            <p:cNvSpPr txBox="1"/>
            <p:nvPr/>
          </p:nvSpPr>
          <p:spPr>
            <a:xfrm>
              <a:off x="5181539" y="2002672"/>
              <a:ext cx="2108677" cy="44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Thesis Part 1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F396FF6-8309-9345-9DA4-F0E56550F678}"/>
                </a:ext>
              </a:extLst>
            </p:cNvPr>
            <p:cNvCxnSpPr/>
            <p:nvPr/>
          </p:nvCxnSpPr>
          <p:spPr>
            <a:xfrm>
              <a:off x="4991100" y="2002672"/>
              <a:ext cx="0" cy="1748928"/>
            </a:xfrm>
            <a:prstGeom prst="line">
              <a:avLst/>
            </a:prstGeom>
            <a:ln w="19050" cap="flat" cmpd="sng" algn="ctr">
              <a:solidFill>
                <a:srgbClr val="FBB318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F5020D-43C2-D92C-2319-792EC15882CA}"/>
                </a:ext>
              </a:extLst>
            </p:cNvPr>
            <p:cNvCxnSpPr/>
            <p:nvPr/>
          </p:nvCxnSpPr>
          <p:spPr>
            <a:xfrm>
              <a:off x="7173421" y="2002672"/>
              <a:ext cx="0" cy="1748928"/>
            </a:xfrm>
            <a:prstGeom prst="line">
              <a:avLst/>
            </a:prstGeom>
            <a:ln w="19050" cap="flat" cmpd="sng" algn="ctr">
              <a:solidFill>
                <a:srgbClr val="FBB318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B9AA87-C33E-502B-5C4C-15FF70321F3F}"/>
                </a:ext>
              </a:extLst>
            </p:cNvPr>
            <p:cNvSpPr txBox="1"/>
            <p:nvPr/>
          </p:nvSpPr>
          <p:spPr>
            <a:xfrm>
              <a:off x="2259946" y="2029537"/>
              <a:ext cx="2762018" cy="44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Literature Research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D20E90-B77A-3DB1-A050-917920FD528C}"/>
                </a:ext>
              </a:extLst>
            </p:cNvPr>
            <p:cNvSpPr txBox="1"/>
            <p:nvPr/>
          </p:nvSpPr>
          <p:spPr>
            <a:xfrm>
              <a:off x="5050638" y="4135601"/>
              <a:ext cx="1762021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Implementation</a:t>
              </a:r>
              <a:endParaRPr lang="LID4096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025EBB-42F3-E88A-B3FB-6D51D92272E2}"/>
                </a:ext>
              </a:extLst>
            </p:cNvPr>
            <p:cNvSpPr txBox="1"/>
            <p:nvPr/>
          </p:nvSpPr>
          <p:spPr>
            <a:xfrm>
              <a:off x="7357180" y="2002672"/>
              <a:ext cx="5176196" cy="44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Arial" panose="020B0604020202020204" pitchFamily="34" charset="0"/>
                  <a:cs typeface="Arial" panose="020B0604020202020204" pitchFamily="34" charset="0"/>
                </a:rPr>
                <a:t>Thesis Part 2: Possible research angles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197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ECEC-426B-DF50-C721-B3727A67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D994-8D15-338F-0603-4490CC4A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Conclusion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058C7-5FDA-9155-39E6-0AA1E1BF81D8}"/>
              </a:ext>
            </a:extLst>
          </p:cNvPr>
          <p:cNvSpPr txBox="1"/>
          <p:nvPr/>
        </p:nvSpPr>
        <p:spPr>
          <a:xfrm>
            <a:off x="-12274346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8238A-F3AD-C241-0A4F-2199BEE8C30E}"/>
              </a:ext>
            </a:extLst>
          </p:cNvPr>
          <p:cNvSpPr txBox="1"/>
          <p:nvPr/>
        </p:nvSpPr>
        <p:spPr>
          <a:xfrm>
            <a:off x="-9092128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0CDE3-043A-B124-5502-D4EE5CC0DDEA}"/>
              </a:ext>
            </a:extLst>
          </p:cNvPr>
          <p:cNvSpPr txBox="1"/>
          <p:nvPr/>
        </p:nvSpPr>
        <p:spPr>
          <a:xfrm>
            <a:off x="-6507766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9B077C-93ED-B363-9E18-23607B371518}"/>
              </a:ext>
            </a:extLst>
          </p:cNvPr>
          <p:cNvSpPr txBox="1"/>
          <p:nvPr/>
        </p:nvSpPr>
        <p:spPr>
          <a:xfrm>
            <a:off x="-4001952" y="6290510"/>
            <a:ext cx="4698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Deep Dives: Two Representative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EF879D-1DE9-A1D2-4D00-5CF6E5762A38}"/>
              </a:ext>
            </a:extLst>
          </p:cNvPr>
          <p:cNvSpPr txBox="1"/>
          <p:nvPr/>
        </p:nvSpPr>
        <p:spPr>
          <a:xfrm>
            <a:off x="697027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Real-Time Focus &amp; Onwards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733FD-63C0-A40F-339D-3CCC1F0C819D}"/>
              </a:ext>
            </a:extLst>
          </p:cNvPr>
          <p:cNvSpPr txBox="1"/>
          <p:nvPr/>
        </p:nvSpPr>
        <p:spPr>
          <a:xfrm>
            <a:off x="-9320151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DA961-F19D-885A-D3C0-13C80379DE77}"/>
              </a:ext>
            </a:extLst>
          </p:cNvPr>
          <p:cNvSpPr txBox="1"/>
          <p:nvPr/>
        </p:nvSpPr>
        <p:spPr>
          <a:xfrm>
            <a:off x="-4229975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7CFC24-1920-8899-9A9C-D7A38026EAA9}"/>
              </a:ext>
            </a:extLst>
          </p:cNvPr>
          <p:cNvSpPr txBox="1"/>
          <p:nvPr/>
        </p:nvSpPr>
        <p:spPr>
          <a:xfrm>
            <a:off x="-6735789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D9429-F88B-FF5D-E806-1E5D289F30F1}"/>
              </a:ext>
            </a:extLst>
          </p:cNvPr>
          <p:cNvSpPr txBox="1"/>
          <p:nvPr/>
        </p:nvSpPr>
        <p:spPr>
          <a:xfrm>
            <a:off x="469004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F136F9-30FA-52EC-35F0-367986C8B6FC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373DFA-806E-6205-AB27-6E98C29886D6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39F14-5D58-864E-FE34-6E78845A16ED}"/>
              </a:ext>
            </a:extLst>
          </p:cNvPr>
          <p:cNvSpPr txBox="1"/>
          <p:nvPr/>
        </p:nvSpPr>
        <p:spPr>
          <a:xfrm>
            <a:off x="700635" y="1885950"/>
            <a:ext cx="96752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Human motion prediction is crucial for intelligent robots interacting with people.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Data-driven models dominate academic research, especially GCNs.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Physics-based methods offer realism and stability, especially in short-horizon contexts.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Notable gap in real-time application</a:t>
            </a:r>
          </a:p>
        </p:txBody>
      </p:sp>
    </p:spTree>
    <p:extLst>
      <p:ext uri="{BB962C8B-B14F-4D97-AF65-F5344CB8AC3E}">
        <p14:creationId xmlns:p14="http://schemas.microsoft.com/office/powerpoint/2010/main" val="1656921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1398-FB6F-2B83-6570-4F2680BF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0B14-6F50-E792-847C-C6CF7771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References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AF00A-38A2-DF13-7DFD-3C5653E0ABB5}"/>
              </a:ext>
            </a:extLst>
          </p:cNvPr>
          <p:cNvSpPr txBox="1"/>
          <p:nvPr/>
        </p:nvSpPr>
        <p:spPr>
          <a:xfrm>
            <a:off x="-15781163" y="6290510"/>
            <a:ext cx="318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54F26-40D4-3745-6F12-1AFC10F149C1}"/>
              </a:ext>
            </a:extLst>
          </p:cNvPr>
          <p:cNvSpPr txBox="1"/>
          <p:nvPr/>
        </p:nvSpPr>
        <p:spPr>
          <a:xfrm>
            <a:off x="-12598945" y="6290510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Literature Landscape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F7F80-11BF-D848-1F17-2A1A31ECC323}"/>
              </a:ext>
            </a:extLst>
          </p:cNvPr>
          <p:cNvSpPr txBox="1"/>
          <p:nvPr/>
        </p:nvSpPr>
        <p:spPr>
          <a:xfrm>
            <a:off x="-10014583" y="6290510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Model Architectures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44B58-39D0-215E-7558-CCCB0776D328}"/>
              </a:ext>
            </a:extLst>
          </p:cNvPr>
          <p:cNvSpPr txBox="1"/>
          <p:nvPr/>
        </p:nvSpPr>
        <p:spPr>
          <a:xfrm>
            <a:off x="-7508769" y="6290510"/>
            <a:ext cx="4698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Deep Dives: Two Representative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0D85B-5DC4-848F-D214-D3EA4AE8DF0C}"/>
              </a:ext>
            </a:extLst>
          </p:cNvPr>
          <p:cNvSpPr txBox="1"/>
          <p:nvPr/>
        </p:nvSpPr>
        <p:spPr>
          <a:xfrm>
            <a:off x="-2809790" y="6290510"/>
            <a:ext cx="344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/>
              <a:t>Real-Time Focus &amp; Onwards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70EA9-4F99-91BF-9935-365756578470}"/>
              </a:ext>
            </a:extLst>
          </p:cNvPr>
          <p:cNvSpPr txBox="1"/>
          <p:nvPr/>
        </p:nvSpPr>
        <p:spPr>
          <a:xfrm>
            <a:off x="-12826968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84EC2-30D7-3F9C-6973-2CA8E5424E2F}"/>
              </a:ext>
            </a:extLst>
          </p:cNvPr>
          <p:cNvSpPr txBox="1"/>
          <p:nvPr/>
        </p:nvSpPr>
        <p:spPr>
          <a:xfrm>
            <a:off x="-7736792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1BD418-77D8-AD26-6019-3597A26A0481}"/>
              </a:ext>
            </a:extLst>
          </p:cNvPr>
          <p:cNvSpPr txBox="1"/>
          <p:nvPr/>
        </p:nvSpPr>
        <p:spPr>
          <a:xfrm>
            <a:off x="-10242606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F5424-5379-8C8A-A402-CFC5FF43F977}"/>
              </a:ext>
            </a:extLst>
          </p:cNvPr>
          <p:cNvSpPr txBox="1"/>
          <p:nvPr/>
        </p:nvSpPr>
        <p:spPr>
          <a:xfrm>
            <a:off x="-3037813" y="629051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LID4096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BEFC08-CDBD-97C6-B0CF-A7DDB53E4106}"/>
              </a:ext>
            </a:extLst>
          </p:cNvPr>
          <p:cNvSpPr/>
          <p:nvPr/>
        </p:nvSpPr>
        <p:spPr>
          <a:xfrm>
            <a:off x="11391900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EA449-E076-1B2D-BE96-04FB9BB6BD7A}"/>
              </a:ext>
            </a:extLst>
          </p:cNvPr>
          <p:cNvSpPr/>
          <p:nvPr/>
        </p:nvSpPr>
        <p:spPr>
          <a:xfrm>
            <a:off x="-293894" y="-246743"/>
            <a:ext cx="990921" cy="8316686"/>
          </a:xfrm>
          <a:prstGeom prst="rect">
            <a:avLst/>
          </a:prstGeom>
          <a:gradFill>
            <a:gsLst>
              <a:gs pos="80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CD809A-93E0-350A-9796-1AEEFCF7B846}"/>
              </a:ext>
            </a:extLst>
          </p:cNvPr>
          <p:cNvSpPr txBox="1"/>
          <p:nvPr/>
        </p:nvSpPr>
        <p:spPr>
          <a:xfrm>
            <a:off x="700635" y="1885950"/>
            <a:ext cx="106948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[1] 	</a:t>
            </a:r>
            <a:r>
              <a:rPr lang="en-GB" sz="1600" dirty="0" err="1"/>
              <a:t>Tenghao</a:t>
            </a:r>
            <a:r>
              <a:rPr lang="en-GB" sz="1600" dirty="0"/>
              <a:t> Deng and Yan Sun. “Recent advances in deterministic human motion prediction: A</a:t>
            </a:r>
          </a:p>
          <a:p>
            <a:r>
              <a:rPr lang="en-GB" sz="1600" dirty="0"/>
              <a:t>review”. In: Image and Vision Computing 143 (Mar. 2024), p. 104926. ISSN: 0262-8856. DOI:</a:t>
            </a:r>
          </a:p>
          <a:p>
            <a:r>
              <a:rPr lang="en-GB" sz="1600" dirty="0"/>
              <a:t>10.1016/j.imavis.2024.104926.</a:t>
            </a:r>
          </a:p>
          <a:p>
            <a:r>
              <a:rPr lang="en-GB" sz="1600" dirty="0"/>
              <a:t>[2]	F. Piccoli et al., “</a:t>
            </a:r>
            <a:r>
              <a:rPr lang="en-GB" sz="1600" dirty="0" err="1"/>
              <a:t>FuSSI</a:t>
            </a:r>
            <a:r>
              <a:rPr lang="en-GB" sz="1600" dirty="0"/>
              <a:t>-Net: Fusion of </a:t>
            </a:r>
            <a:r>
              <a:rPr lang="en-GB" sz="1600" dirty="0" err="1"/>
              <a:t>Spatio</a:t>
            </a:r>
            <a:r>
              <a:rPr lang="en-GB" sz="1600" dirty="0"/>
              <a:t>-temporal Skeletons for Intention Prediction Network,” </a:t>
            </a:r>
            <a:r>
              <a:rPr lang="en-GB" sz="1600" dirty="0" err="1"/>
              <a:t>arXiv</a:t>
            </a:r>
            <a:r>
              <a:rPr lang="en-GB" sz="1600" dirty="0"/>
              <a:t> (Cornell University), May 2020, </a:t>
            </a:r>
            <a:r>
              <a:rPr lang="en-GB" sz="1600" dirty="0" err="1"/>
              <a:t>doi</a:t>
            </a:r>
            <a:r>
              <a:rPr lang="en-GB" sz="1600" dirty="0"/>
              <a:t>: </a:t>
            </a:r>
            <a:r>
              <a:rPr lang="en-GB" sz="1600" dirty="0">
                <a:hlinkClick r:id="rId2"/>
              </a:rPr>
              <a:t>https://doi.org/10.48550/arxiv.2005.07796</a:t>
            </a:r>
            <a:r>
              <a:rPr lang="en-GB" sz="1600" dirty="0"/>
              <a:t>.</a:t>
            </a:r>
          </a:p>
          <a:p>
            <a:r>
              <a:rPr lang="en-GB" sz="1600" dirty="0"/>
              <a:t>[3]	Federico Formica et al. “Neural Networks based Human Intent Prediction for Collaborative Robotics</a:t>
            </a:r>
          </a:p>
          <a:p>
            <a:r>
              <a:rPr lang="en-GB" sz="1600" dirty="0"/>
              <a:t>Applications”. In: 2021 20th International Conference on Advanced Robotics (ICAR). Dec. 2021,</a:t>
            </a:r>
          </a:p>
          <a:p>
            <a:r>
              <a:rPr lang="en-GB" sz="1600" dirty="0"/>
              <a:t>pp. 1018–1023. DOI: 10.1109/ICAR53236.2021.9659328.</a:t>
            </a:r>
          </a:p>
          <a:p>
            <a:r>
              <a:rPr lang="nl-NL" sz="1600" dirty="0"/>
              <a:t>[4]	Naureen Mahmood et al. “AMASS: Archive of Motion Capture as Surface Shapes”. In: Interna-</a:t>
            </a:r>
          </a:p>
          <a:p>
            <a:r>
              <a:rPr lang="nl-NL" sz="1600" dirty="0"/>
              <a:t>tional Conference on Computer Vision. Oct. 2019, pp. 5442–5451.</a:t>
            </a:r>
          </a:p>
        </p:txBody>
      </p:sp>
    </p:spTree>
    <p:extLst>
      <p:ext uri="{BB962C8B-B14F-4D97-AF65-F5344CB8AC3E}">
        <p14:creationId xmlns:p14="http://schemas.microsoft.com/office/powerpoint/2010/main" val="87289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1884</TotalTime>
  <Words>1162</Words>
  <Application>Microsoft Office PowerPoint</Application>
  <PresentationFormat>Widescreen</PresentationFormat>
  <Paragraphs>278</Paragraphs>
  <Slides>16</Slides>
  <Notes>10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Calisto MT</vt:lpstr>
      <vt:lpstr>Times New Roman</vt:lpstr>
      <vt:lpstr>Univers Condensed</vt:lpstr>
      <vt:lpstr>ChronicleVTI</vt:lpstr>
      <vt:lpstr>Towards Real-Time Human Motion Prediction using Data-Driven and Physics-Based Models</vt:lpstr>
      <vt:lpstr>Contents</vt:lpstr>
      <vt:lpstr>Motivation &amp; Context</vt:lpstr>
      <vt:lpstr>Methodology</vt:lpstr>
      <vt:lpstr>Thematic Breakdown – Pedestrian Intent PRediction</vt:lpstr>
      <vt:lpstr>Thematic Breakdown – Intent Prediction in HRI </vt:lpstr>
      <vt:lpstr>Thematic Breakdown – Human Motion Prediction</vt:lpstr>
      <vt:lpstr>Key Techniques &amp; Trends</vt:lpstr>
      <vt:lpstr>Key Techniques &amp; Trends</vt:lpstr>
      <vt:lpstr>Key Techniques &amp; Trends</vt:lpstr>
      <vt:lpstr>From Past Poses to Future Motion</vt:lpstr>
      <vt:lpstr>From Past Poses to Future Motion</vt:lpstr>
      <vt:lpstr>Limitations in Literature</vt:lpstr>
      <vt:lpstr>Thesis Plan &amp; Timeline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Hutani</dc:creator>
  <cp:lastModifiedBy>Andrew Hutani</cp:lastModifiedBy>
  <cp:revision>6</cp:revision>
  <dcterms:created xsi:type="dcterms:W3CDTF">2025-05-21T10:43:08Z</dcterms:created>
  <dcterms:modified xsi:type="dcterms:W3CDTF">2025-05-25T16:57:21Z</dcterms:modified>
</cp:coreProperties>
</file>