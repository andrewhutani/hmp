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3_9DDEF6F9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9" r:id="rId8"/>
    <p:sldId id="270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CD414A7-5193-7DA2-323C-282CECD1D5EC}" name="Andrew Hutani" initials="AH" userId="S::ahutani@tudelft.nl::3eb8c954-c817-4d5a-a86b-9eeed0fa00a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C5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5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3_9DDEF6F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FD6955-DB77-461C-B7CF-E4A2B8864216}" authorId="{ACD414A7-5193-7DA2-323C-282CECD1D5EC}" created="2025-05-21T13:06:50.9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48635129" sldId="259"/>
      <ac:picMk id="18" creationId="{725AF02C-D981-9FD3-6B14-441B6351541C}"/>
    </ac:deMkLst>
    <p188:txBody>
      <a:bodyPr/>
      <a:lstStyle/>
      <a:p>
        <a:r>
          <a:rPr lang="LID4096"/>
          <a:t>Add source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83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08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132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27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240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8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815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923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451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472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8660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microsoft.com/office/2018/10/relationships/comments" Target="../comments/modernComment_103_9DDEF6F9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6AE1A-DA2A-64E7-3F1C-4CCAC002A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4200" b="0" i="0" dirty="0">
                <a:effectLst/>
                <a:latin typeface="Times New Roman" panose="02020603050405020304" pitchFamily="18" charset="0"/>
              </a:rPr>
              <a:t>Towards Real-Time Human Motion Prediction using Data-Driven and Physics-Based Models</a:t>
            </a:r>
            <a:endParaRPr lang="LID4096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57A17-9E7F-E5D6-8453-738F244169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r>
              <a:rPr lang="en-GB" b="0" i="0">
                <a:effectLst/>
                <a:latin typeface="Times New Roman" panose="02020603050405020304" pitchFamily="18" charset="0"/>
              </a:rPr>
              <a:t>From literature to reality</a:t>
            </a:r>
            <a:endParaRPr lang="LID4096" dirty="0"/>
          </a:p>
        </p:txBody>
      </p:sp>
      <p:pic>
        <p:nvPicPr>
          <p:cNvPr id="4" name="Picture 3" descr="Complex math formulas on a blackboard">
            <a:extLst>
              <a:ext uri="{FF2B5EF4-FFF2-40B4-BE49-F238E27FC236}">
                <a16:creationId xmlns:a16="http://schemas.microsoft.com/office/drawing/2014/main" id="{8BFE0182-31EC-D0D4-0504-113C1DB4D4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006" r="17082" b="-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76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450A1-944D-C878-7D5F-BB68530D7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Contents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12-B3FB-E5D1-377A-419C4971879E}"/>
              </a:ext>
            </a:extLst>
          </p:cNvPr>
          <p:cNvSpPr txBox="1"/>
          <p:nvPr/>
        </p:nvSpPr>
        <p:spPr>
          <a:xfrm>
            <a:off x="700635" y="2221992"/>
            <a:ext cx="3380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dirty="0"/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727D47-FF2F-EFE1-1CAB-6A3B8E4950CF}"/>
              </a:ext>
            </a:extLst>
          </p:cNvPr>
          <p:cNvSpPr txBox="1"/>
          <p:nvPr/>
        </p:nvSpPr>
        <p:spPr>
          <a:xfrm>
            <a:off x="700635" y="2688717"/>
            <a:ext cx="27831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dirty="0"/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42AB5-A649-3B85-E294-D37D5D797D24}"/>
              </a:ext>
            </a:extLst>
          </p:cNvPr>
          <p:cNvSpPr txBox="1"/>
          <p:nvPr/>
        </p:nvSpPr>
        <p:spPr>
          <a:xfrm>
            <a:off x="700635" y="3155442"/>
            <a:ext cx="27045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dirty="0"/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1DE4-DDE3-A668-0D35-A31C52F60927}"/>
              </a:ext>
            </a:extLst>
          </p:cNvPr>
          <p:cNvSpPr txBox="1"/>
          <p:nvPr/>
        </p:nvSpPr>
        <p:spPr>
          <a:xfrm>
            <a:off x="700635" y="3622167"/>
            <a:ext cx="48977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dirty="0"/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75F063-E042-2E6B-0C92-F9262631B840}"/>
              </a:ext>
            </a:extLst>
          </p:cNvPr>
          <p:cNvSpPr txBox="1"/>
          <p:nvPr/>
        </p:nvSpPr>
        <p:spPr>
          <a:xfrm>
            <a:off x="700635" y="4088892"/>
            <a:ext cx="36426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000" dirty="0"/>
              <a:t>Real-Time Focus &amp; Onwards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BF8413-BC32-86C0-8A5C-CCAC62790CCC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1EE972-F91D-BFB8-3881-42783C62E1C2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89113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CD0C-6D54-E5E5-5934-5516BB10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7B8E-71AE-3C6A-4E3A-0058BB5C9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Motivation &amp; Context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9DBBA9-AEDA-15CC-58AD-FE1407807B11}"/>
              </a:ext>
            </a:extLst>
          </p:cNvPr>
          <p:cNvSpPr txBox="1"/>
          <p:nvPr/>
        </p:nvSpPr>
        <p:spPr>
          <a:xfrm>
            <a:off x="700635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222C06-1230-1FCE-CE4A-651E951F4945}"/>
              </a:ext>
            </a:extLst>
          </p:cNvPr>
          <p:cNvSpPr txBox="1"/>
          <p:nvPr/>
        </p:nvSpPr>
        <p:spPr>
          <a:xfrm>
            <a:off x="3882853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6E1A4D-496B-0725-A197-C8D25D0F1B2F}"/>
              </a:ext>
            </a:extLst>
          </p:cNvPr>
          <p:cNvSpPr txBox="1"/>
          <p:nvPr/>
        </p:nvSpPr>
        <p:spPr>
          <a:xfrm>
            <a:off x="6467215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32642C-7155-1245-D35C-DA6601843531}"/>
              </a:ext>
            </a:extLst>
          </p:cNvPr>
          <p:cNvSpPr txBox="1"/>
          <p:nvPr/>
        </p:nvSpPr>
        <p:spPr>
          <a:xfrm>
            <a:off x="8973029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EE3378-B3F4-64C2-956F-C70D947D74F4}"/>
              </a:ext>
            </a:extLst>
          </p:cNvPr>
          <p:cNvSpPr txBox="1"/>
          <p:nvPr/>
        </p:nvSpPr>
        <p:spPr>
          <a:xfrm>
            <a:off x="13672008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B96F0E-FC5D-3650-CE36-544B1D2F33AF}"/>
              </a:ext>
            </a:extLst>
          </p:cNvPr>
          <p:cNvSpPr txBox="1"/>
          <p:nvPr/>
        </p:nvSpPr>
        <p:spPr>
          <a:xfrm>
            <a:off x="3654830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D7A3D-4094-87E8-E555-686347F100B9}"/>
              </a:ext>
            </a:extLst>
          </p:cNvPr>
          <p:cNvSpPr txBox="1"/>
          <p:nvPr/>
        </p:nvSpPr>
        <p:spPr>
          <a:xfrm>
            <a:off x="8745006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67B8ED-099D-FFA0-D94E-7E1AA9C55BBD}"/>
              </a:ext>
            </a:extLst>
          </p:cNvPr>
          <p:cNvSpPr txBox="1"/>
          <p:nvPr/>
        </p:nvSpPr>
        <p:spPr>
          <a:xfrm>
            <a:off x="6239192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612A89-7AD0-FDD6-DE77-00E417C52EDC}"/>
              </a:ext>
            </a:extLst>
          </p:cNvPr>
          <p:cNvSpPr txBox="1"/>
          <p:nvPr/>
        </p:nvSpPr>
        <p:spPr>
          <a:xfrm>
            <a:off x="13443985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904ED6-C7D3-F9E8-73DE-7B92C45618D1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CE66874-E608-DAED-03EE-86CFCC39B905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5AF02C-D981-9FD3-6B14-441B63515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027" y="3800176"/>
            <a:ext cx="9097645" cy="21434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0058E90-E4F6-9943-260E-626F080D08C4}"/>
              </a:ext>
            </a:extLst>
          </p:cNvPr>
          <p:cNvSpPr txBox="1"/>
          <p:nvPr/>
        </p:nvSpPr>
        <p:spPr>
          <a:xfrm>
            <a:off x="700635" y="1885950"/>
            <a:ext cx="10687657" cy="807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Shared workspaces between robots and humans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nl-NL" sz="2000" dirty="0"/>
              <a:t>Company motivation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26486351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A264F-FD12-6D9B-8235-58866165B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A841-EA1A-1198-E09B-F566B61C2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Research Scope &amp; Goal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1D27B-4144-E4BB-33D0-9CC7681E82C1}"/>
              </a:ext>
            </a:extLst>
          </p:cNvPr>
          <p:cNvSpPr txBox="1"/>
          <p:nvPr/>
        </p:nvSpPr>
        <p:spPr>
          <a:xfrm>
            <a:off x="700635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FEFFB9-D99F-2625-BB6D-DD324581E666}"/>
              </a:ext>
            </a:extLst>
          </p:cNvPr>
          <p:cNvSpPr txBox="1"/>
          <p:nvPr/>
        </p:nvSpPr>
        <p:spPr>
          <a:xfrm>
            <a:off x="3882853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1B425F-FB04-DB68-399B-9699FC7FEB10}"/>
              </a:ext>
            </a:extLst>
          </p:cNvPr>
          <p:cNvSpPr txBox="1"/>
          <p:nvPr/>
        </p:nvSpPr>
        <p:spPr>
          <a:xfrm>
            <a:off x="6467215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0BD2CC-D806-8881-600C-E92353F5B564}"/>
              </a:ext>
            </a:extLst>
          </p:cNvPr>
          <p:cNvSpPr txBox="1"/>
          <p:nvPr/>
        </p:nvSpPr>
        <p:spPr>
          <a:xfrm>
            <a:off x="8973029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642737-7DB6-B61C-6F09-D90678854E32}"/>
              </a:ext>
            </a:extLst>
          </p:cNvPr>
          <p:cNvSpPr txBox="1"/>
          <p:nvPr/>
        </p:nvSpPr>
        <p:spPr>
          <a:xfrm>
            <a:off x="13672008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6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ABFF6C-86F4-AF92-7518-8846493E7C4E}"/>
              </a:ext>
            </a:extLst>
          </p:cNvPr>
          <p:cNvSpPr txBox="1"/>
          <p:nvPr/>
        </p:nvSpPr>
        <p:spPr>
          <a:xfrm>
            <a:off x="3654830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8592CF-FE81-EF99-BC2A-E7DE41C541DE}"/>
              </a:ext>
            </a:extLst>
          </p:cNvPr>
          <p:cNvSpPr txBox="1"/>
          <p:nvPr/>
        </p:nvSpPr>
        <p:spPr>
          <a:xfrm>
            <a:off x="8745006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2886C5-04F3-6D37-8F7C-57A8CC072BD1}"/>
              </a:ext>
            </a:extLst>
          </p:cNvPr>
          <p:cNvSpPr txBox="1"/>
          <p:nvPr/>
        </p:nvSpPr>
        <p:spPr>
          <a:xfrm>
            <a:off x="6239192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C68748-6E0A-145E-D8A4-A7B14A1DD8E6}"/>
              </a:ext>
            </a:extLst>
          </p:cNvPr>
          <p:cNvSpPr txBox="1"/>
          <p:nvPr/>
        </p:nvSpPr>
        <p:spPr>
          <a:xfrm>
            <a:off x="13443985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4B3E9BB-8176-E360-ACCD-BEAE07918726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DE4906-54A1-736F-C055-A8FCE7C41A3D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A35C5-A492-DDB9-2833-D2214F7F6F94}"/>
              </a:ext>
            </a:extLst>
          </p:cNvPr>
          <p:cNvSpPr txBox="1"/>
          <p:nvPr/>
        </p:nvSpPr>
        <p:spPr>
          <a:xfrm>
            <a:off x="700635" y="1885950"/>
            <a:ext cx="10687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Available Human Motion Prediction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Expanded scope to Human Intent Prediction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7137691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AF00-C116-025B-425C-EAC5EABB1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1B866-49FB-C102-CDAC-CA5D6B525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Methodology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32EF1D-E95B-9301-5D6A-6FFEFCA3DB23}"/>
              </a:ext>
            </a:extLst>
          </p:cNvPr>
          <p:cNvSpPr txBox="1"/>
          <p:nvPr/>
        </p:nvSpPr>
        <p:spPr>
          <a:xfrm>
            <a:off x="-2481583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D61955-109D-C2CA-2F04-143F52A5B506}"/>
              </a:ext>
            </a:extLst>
          </p:cNvPr>
          <p:cNvSpPr txBox="1"/>
          <p:nvPr/>
        </p:nvSpPr>
        <p:spPr>
          <a:xfrm>
            <a:off x="700635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03816-A9D6-5860-3C0B-ADE3CD5D5EC4}"/>
              </a:ext>
            </a:extLst>
          </p:cNvPr>
          <p:cNvSpPr txBox="1"/>
          <p:nvPr/>
        </p:nvSpPr>
        <p:spPr>
          <a:xfrm>
            <a:off x="3284997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CBE7BC-B42C-B7C2-DCAE-1AA1E0355A6B}"/>
              </a:ext>
            </a:extLst>
          </p:cNvPr>
          <p:cNvSpPr txBox="1"/>
          <p:nvPr/>
        </p:nvSpPr>
        <p:spPr>
          <a:xfrm>
            <a:off x="5790811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3D99FB-67F9-CD98-9B50-EB991C04C4EC}"/>
              </a:ext>
            </a:extLst>
          </p:cNvPr>
          <p:cNvSpPr txBox="1"/>
          <p:nvPr/>
        </p:nvSpPr>
        <p:spPr>
          <a:xfrm>
            <a:off x="10489790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248C39-A58E-BF59-572E-DD92AD534140}"/>
              </a:ext>
            </a:extLst>
          </p:cNvPr>
          <p:cNvSpPr txBox="1"/>
          <p:nvPr/>
        </p:nvSpPr>
        <p:spPr>
          <a:xfrm>
            <a:off x="472612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DF2D40-4A99-CECC-6F5B-2678912D882A}"/>
              </a:ext>
            </a:extLst>
          </p:cNvPr>
          <p:cNvSpPr txBox="1"/>
          <p:nvPr/>
        </p:nvSpPr>
        <p:spPr>
          <a:xfrm>
            <a:off x="5562788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380C99-FD56-B096-A1E6-CC3CC4C73B1C}"/>
              </a:ext>
            </a:extLst>
          </p:cNvPr>
          <p:cNvSpPr txBox="1"/>
          <p:nvPr/>
        </p:nvSpPr>
        <p:spPr>
          <a:xfrm>
            <a:off x="305697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10815-37DD-F7AA-A269-26A649674AD1}"/>
              </a:ext>
            </a:extLst>
          </p:cNvPr>
          <p:cNvSpPr txBox="1"/>
          <p:nvPr/>
        </p:nvSpPr>
        <p:spPr>
          <a:xfrm>
            <a:off x="10261767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91BF56-65B0-5F88-8436-D920C941B933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FAB91E-82C9-1C0A-407D-DC0E2733C35C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C510EF-74FF-B108-4CCB-6B9110F8E37F}"/>
              </a:ext>
            </a:extLst>
          </p:cNvPr>
          <p:cNvSpPr txBox="1"/>
          <p:nvPr/>
        </p:nvSpPr>
        <p:spPr>
          <a:xfrm>
            <a:off x="700635" y="1885950"/>
            <a:ext cx="1068765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/>
              <a:t>Two Step approach</a:t>
            </a:r>
          </a:p>
          <a:p>
            <a:pPr marL="457200" indent="-457200">
              <a:buFont typeface="+mj-lt"/>
              <a:buAutoNum type="arabicPeriod"/>
            </a:pPr>
            <a:r>
              <a:rPr lang="nl-NL" sz="2000" dirty="0"/>
              <a:t>Global search in Human Intent Prediction</a:t>
            </a:r>
          </a:p>
          <a:p>
            <a:pPr marL="457200" indent="-457200">
              <a:buFont typeface="+mj-lt"/>
              <a:buAutoNum type="arabicPeriod"/>
            </a:pPr>
            <a:r>
              <a:rPr lang="nl-NL" sz="2000" dirty="0"/>
              <a:t>Targeted search in Human Motion Prediction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NL" sz="2000" dirty="0"/>
              <a:t>Using insights from the global search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nl-NL" sz="20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nl-NL" sz="2000" dirty="0"/>
          </a:p>
          <a:p>
            <a:r>
              <a:rPr lang="nl-NL" sz="2000" dirty="0"/>
              <a:t>Resulted in three distinct categories:</a:t>
            </a:r>
          </a:p>
          <a:p>
            <a:pPr marL="457200" indent="-457200">
              <a:buFont typeface="+mj-lt"/>
              <a:buAutoNum type="arabicPeriod"/>
            </a:pPr>
            <a:r>
              <a:rPr lang="nl-NL" sz="2000" dirty="0"/>
              <a:t>Pedestrian Intent Prediction</a:t>
            </a:r>
          </a:p>
          <a:p>
            <a:pPr marL="457200" indent="-457200">
              <a:buFont typeface="+mj-lt"/>
              <a:buAutoNum type="arabicPeriod"/>
            </a:pPr>
            <a:r>
              <a:rPr lang="nl-NL" sz="2000" dirty="0"/>
              <a:t>Intent Prediction in Human Robot Interaction</a:t>
            </a:r>
          </a:p>
          <a:p>
            <a:pPr marL="457200" indent="-457200">
              <a:buFont typeface="+mj-lt"/>
              <a:buAutoNum type="arabicPeriod"/>
            </a:pPr>
            <a:r>
              <a:rPr lang="nl-NL" sz="2000" dirty="0"/>
              <a:t>Human Motion Prediction</a:t>
            </a:r>
          </a:p>
        </p:txBody>
      </p:sp>
    </p:spTree>
    <p:extLst>
      <p:ext uri="{BB962C8B-B14F-4D97-AF65-F5344CB8AC3E}">
        <p14:creationId xmlns:p14="http://schemas.microsoft.com/office/powerpoint/2010/main" val="4174222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2B0B5-DE4E-FC45-DB43-75DA9846F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63067-8030-6E5F-F201-26243044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NL" dirty="0"/>
              <a:t>Thematic Breakdown – Pedestrian Intent PRediction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2CEDB9-B43E-18B9-8C9E-BEC7C0450B99}"/>
              </a:ext>
            </a:extLst>
          </p:cNvPr>
          <p:cNvSpPr txBox="1"/>
          <p:nvPr/>
        </p:nvSpPr>
        <p:spPr>
          <a:xfrm>
            <a:off x="-2481583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1DDB81-D9A3-5696-3891-8C0A82885ED2}"/>
              </a:ext>
            </a:extLst>
          </p:cNvPr>
          <p:cNvSpPr txBox="1"/>
          <p:nvPr/>
        </p:nvSpPr>
        <p:spPr>
          <a:xfrm>
            <a:off x="700635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7DAA96-C7E0-1410-30EB-3BE231DA2BB1}"/>
              </a:ext>
            </a:extLst>
          </p:cNvPr>
          <p:cNvSpPr txBox="1"/>
          <p:nvPr/>
        </p:nvSpPr>
        <p:spPr>
          <a:xfrm>
            <a:off x="3284997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3A012-EC84-FF8E-E3AA-CD400C44CBC4}"/>
              </a:ext>
            </a:extLst>
          </p:cNvPr>
          <p:cNvSpPr txBox="1"/>
          <p:nvPr/>
        </p:nvSpPr>
        <p:spPr>
          <a:xfrm>
            <a:off x="5790811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A8C023-687F-4BDB-4207-95D5FA8A7FFD}"/>
              </a:ext>
            </a:extLst>
          </p:cNvPr>
          <p:cNvSpPr txBox="1"/>
          <p:nvPr/>
        </p:nvSpPr>
        <p:spPr>
          <a:xfrm>
            <a:off x="10489790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A5F004-DEAB-E61B-D523-CDB7B0E54ED1}"/>
              </a:ext>
            </a:extLst>
          </p:cNvPr>
          <p:cNvSpPr txBox="1"/>
          <p:nvPr/>
        </p:nvSpPr>
        <p:spPr>
          <a:xfrm>
            <a:off x="472612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AB0CA1-AFA3-92CD-9493-B946C72C74FB}"/>
              </a:ext>
            </a:extLst>
          </p:cNvPr>
          <p:cNvSpPr txBox="1"/>
          <p:nvPr/>
        </p:nvSpPr>
        <p:spPr>
          <a:xfrm>
            <a:off x="5562788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EDC2C6-B3B8-C5A7-DA0C-07CF466F3C7D}"/>
              </a:ext>
            </a:extLst>
          </p:cNvPr>
          <p:cNvSpPr txBox="1"/>
          <p:nvPr/>
        </p:nvSpPr>
        <p:spPr>
          <a:xfrm>
            <a:off x="305697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A98D2F-115D-1FAD-6F14-5CE42EC5C552}"/>
              </a:ext>
            </a:extLst>
          </p:cNvPr>
          <p:cNvSpPr txBox="1"/>
          <p:nvPr/>
        </p:nvSpPr>
        <p:spPr>
          <a:xfrm>
            <a:off x="10261767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728833-BB51-0733-C38E-83A962B7A149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CC6526-A52E-C9C5-14C9-F7630A8FF582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9E207B-8D83-22F2-4DCC-8B3384C0190B}"/>
              </a:ext>
            </a:extLst>
          </p:cNvPr>
          <p:cNvSpPr txBox="1"/>
          <p:nvPr/>
        </p:nvSpPr>
        <p:spPr>
          <a:xfrm>
            <a:off x="700635" y="2221992"/>
            <a:ext cx="1068765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Most often posed as Classification Task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Neural Networks are used, most pre dominantly Graph-based methods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Trained on urban imagery</a:t>
            </a:r>
          </a:p>
        </p:txBody>
      </p:sp>
    </p:spTree>
    <p:extLst>
      <p:ext uri="{BB962C8B-B14F-4D97-AF65-F5344CB8AC3E}">
        <p14:creationId xmlns:p14="http://schemas.microsoft.com/office/powerpoint/2010/main" val="4882584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035E5-83EB-9A9F-DE02-31E9F44C4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CE8B0-453B-B382-1EC2-4D79504E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NL" dirty="0"/>
              <a:t>Thematic Breakdown – </a:t>
            </a:r>
            <a:r>
              <a:rPr lang="nl-NL" sz="4000" dirty="0"/>
              <a:t>Intent Prediction in HRI</a:t>
            </a:r>
            <a:br>
              <a:rPr lang="nl-NL" sz="4000" dirty="0"/>
            </a:b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30E48-4968-6A92-41FA-8FA9397BAAB5}"/>
              </a:ext>
            </a:extLst>
          </p:cNvPr>
          <p:cNvSpPr txBox="1"/>
          <p:nvPr/>
        </p:nvSpPr>
        <p:spPr>
          <a:xfrm>
            <a:off x="-2481583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501D8-5CB9-CA38-0BF0-A56616E320BB}"/>
              </a:ext>
            </a:extLst>
          </p:cNvPr>
          <p:cNvSpPr txBox="1"/>
          <p:nvPr/>
        </p:nvSpPr>
        <p:spPr>
          <a:xfrm>
            <a:off x="700635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00BB0A-21F7-0688-D1A3-D9A8113315B6}"/>
              </a:ext>
            </a:extLst>
          </p:cNvPr>
          <p:cNvSpPr txBox="1"/>
          <p:nvPr/>
        </p:nvSpPr>
        <p:spPr>
          <a:xfrm>
            <a:off x="3284997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FD6B2-CFFF-F133-86BC-04ED8A7AAE38}"/>
              </a:ext>
            </a:extLst>
          </p:cNvPr>
          <p:cNvSpPr txBox="1"/>
          <p:nvPr/>
        </p:nvSpPr>
        <p:spPr>
          <a:xfrm>
            <a:off x="5790811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79A79A-2426-5D13-36BF-82A501CE08F6}"/>
              </a:ext>
            </a:extLst>
          </p:cNvPr>
          <p:cNvSpPr txBox="1"/>
          <p:nvPr/>
        </p:nvSpPr>
        <p:spPr>
          <a:xfrm>
            <a:off x="10489790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69D821-BA62-E3BF-8C76-8735A0AEDEE4}"/>
              </a:ext>
            </a:extLst>
          </p:cNvPr>
          <p:cNvSpPr txBox="1"/>
          <p:nvPr/>
        </p:nvSpPr>
        <p:spPr>
          <a:xfrm>
            <a:off x="472612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390857-DAA2-80C4-5143-B7BB37E88163}"/>
              </a:ext>
            </a:extLst>
          </p:cNvPr>
          <p:cNvSpPr txBox="1"/>
          <p:nvPr/>
        </p:nvSpPr>
        <p:spPr>
          <a:xfrm>
            <a:off x="5562788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22D239-1273-0F5A-6317-3624F81529F7}"/>
              </a:ext>
            </a:extLst>
          </p:cNvPr>
          <p:cNvSpPr txBox="1"/>
          <p:nvPr/>
        </p:nvSpPr>
        <p:spPr>
          <a:xfrm>
            <a:off x="305697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407FB4-E441-AFF2-D023-A9DBD116C08B}"/>
              </a:ext>
            </a:extLst>
          </p:cNvPr>
          <p:cNvSpPr txBox="1"/>
          <p:nvPr/>
        </p:nvSpPr>
        <p:spPr>
          <a:xfrm>
            <a:off x="10261767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67A831-110E-97AD-412A-218A962B566D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65ED2B-92A8-BB4B-08B0-3A07D526EC36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501C45-5981-A1BA-923B-59F46A4049AD}"/>
              </a:ext>
            </a:extLst>
          </p:cNvPr>
          <p:cNvSpPr txBox="1"/>
          <p:nvPr/>
        </p:nvSpPr>
        <p:spPr>
          <a:xfrm>
            <a:off x="700635" y="1885950"/>
            <a:ext cx="106876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000" dirty="0"/>
              <a:t>Split into: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Independent Task Prediction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Collaborative Task Prediction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Usually has strict sets of action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Makes use of probalistic frameworks (e.g. Markov Decision Processes)</a:t>
            </a:r>
          </a:p>
        </p:txBody>
      </p:sp>
    </p:spTree>
    <p:extLst>
      <p:ext uri="{BB962C8B-B14F-4D97-AF65-F5344CB8AC3E}">
        <p14:creationId xmlns:p14="http://schemas.microsoft.com/office/powerpoint/2010/main" val="4649860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55FA8-EDA6-C823-6840-D988EDB60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305E-E66A-4D91-E3BE-52CA6812E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nl-NL" dirty="0"/>
              <a:t>Thematic Breakdown – </a:t>
            </a:r>
            <a:r>
              <a:rPr lang="nl-NL" sz="4000" dirty="0"/>
              <a:t>Human Motion Prediction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F3F0C-43B4-76C6-FD9C-B34FDF7BD806}"/>
              </a:ext>
            </a:extLst>
          </p:cNvPr>
          <p:cNvSpPr txBox="1"/>
          <p:nvPr/>
        </p:nvSpPr>
        <p:spPr>
          <a:xfrm>
            <a:off x="-2481583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BA7449-4AAB-FE02-3FF4-629CC8DB2646}"/>
              </a:ext>
            </a:extLst>
          </p:cNvPr>
          <p:cNvSpPr txBox="1"/>
          <p:nvPr/>
        </p:nvSpPr>
        <p:spPr>
          <a:xfrm>
            <a:off x="700635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9F84C-988D-AE20-7BFB-F77613A3589C}"/>
              </a:ext>
            </a:extLst>
          </p:cNvPr>
          <p:cNvSpPr txBox="1"/>
          <p:nvPr/>
        </p:nvSpPr>
        <p:spPr>
          <a:xfrm>
            <a:off x="3284997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A02020-FAD9-0193-BEA8-06D0DB0E5F8F}"/>
              </a:ext>
            </a:extLst>
          </p:cNvPr>
          <p:cNvSpPr txBox="1"/>
          <p:nvPr/>
        </p:nvSpPr>
        <p:spPr>
          <a:xfrm>
            <a:off x="5790811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2662E8-D466-3581-17B4-A66AF4B492BA}"/>
              </a:ext>
            </a:extLst>
          </p:cNvPr>
          <p:cNvSpPr txBox="1"/>
          <p:nvPr/>
        </p:nvSpPr>
        <p:spPr>
          <a:xfrm>
            <a:off x="10489790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0F6641-CF2F-8075-1B5D-E482BB76EACD}"/>
              </a:ext>
            </a:extLst>
          </p:cNvPr>
          <p:cNvSpPr txBox="1"/>
          <p:nvPr/>
        </p:nvSpPr>
        <p:spPr>
          <a:xfrm>
            <a:off x="472612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E927DB-4236-2948-DEA1-F23ADA47865A}"/>
              </a:ext>
            </a:extLst>
          </p:cNvPr>
          <p:cNvSpPr txBox="1"/>
          <p:nvPr/>
        </p:nvSpPr>
        <p:spPr>
          <a:xfrm>
            <a:off x="5562788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C7A5F0-0D2C-CA2C-1209-F34CD1801F25}"/>
              </a:ext>
            </a:extLst>
          </p:cNvPr>
          <p:cNvSpPr txBox="1"/>
          <p:nvPr/>
        </p:nvSpPr>
        <p:spPr>
          <a:xfrm>
            <a:off x="305697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E4172C-5187-0C9F-3496-F5434B1A276C}"/>
              </a:ext>
            </a:extLst>
          </p:cNvPr>
          <p:cNvSpPr txBox="1"/>
          <p:nvPr/>
        </p:nvSpPr>
        <p:spPr>
          <a:xfrm>
            <a:off x="10261767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26CAE2-5533-499B-0D1D-76D1A12FDCAD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A015C7-5591-14E4-AAD3-9DCC34B6E03B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DD0519-83A8-129D-17B1-2B42579F45C9}"/>
              </a:ext>
            </a:extLst>
          </p:cNvPr>
          <p:cNvSpPr txBox="1"/>
          <p:nvPr/>
        </p:nvSpPr>
        <p:spPr>
          <a:xfrm>
            <a:off x="700635" y="2221992"/>
            <a:ext cx="106876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Continuous pose forecasting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Mainly uses motion capture data, transformed into skeleton keypoints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000" dirty="0"/>
          </a:p>
          <a:p>
            <a:r>
              <a:rPr lang="nl-NL" sz="2000" dirty="0"/>
              <a:t>Has two main methods: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Data-Driven approaches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000" dirty="0"/>
              <a:t>Physics-Based models</a:t>
            </a:r>
          </a:p>
        </p:txBody>
      </p:sp>
    </p:spTree>
    <p:extLst>
      <p:ext uri="{BB962C8B-B14F-4D97-AF65-F5344CB8AC3E}">
        <p14:creationId xmlns:p14="http://schemas.microsoft.com/office/powerpoint/2010/main" val="478562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9C090-F46C-A702-8953-71C4EF564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1DB2-0611-FB68-0D77-526F725C6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Key Techniques &amp; Trends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5702B-B5DB-FB57-B38D-D043FEDE1A8C}"/>
              </a:ext>
            </a:extLst>
          </p:cNvPr>
          <p:cNvSpPr txBox="1"/>
          <p:nvPr/>
        </p:nvSpPr>
        <p:spPr>
          <a:xfrm>
            <a:off x="-5023301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D8626B-DE6A-6D05-A6F1-8CB9A1A22589}"/>
              </a:ext>
            </a:extLst>
          </p:cNvPr>
          <p:cNvSpPr txBox="1"/>
          <p:nvPr/>
        </p:nvSpPr>
        <p:spPr>
          <a:xfrm>
            <a:off x="-1841083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80A41F-9659-7DCA-C211-EAB11AEB317F}"/>
              </a:ext>
            </a:extLst>
          </p:cNvPr>
          <p:cNvSpPr txBox="1"/>
          <p:nvPr/>
        </p:nvSpPr>
        <p:spPr>
          <a:xfrm>
            <a:off x="743279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97B389-6579-9BD0-B835-6F33E88F5FBA}"/>
              </a:ext>
            </a:extLst>
          </p:cNvPr>
          <p:cNvSpPr txBox="1"/>
          <p:nvPr/>
        </p:nvSpPr>
        <p:spPr>
          <a:xfrm>
            <a:off x="3249093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13A813-E228-E184-BEC4-A6CBE47FD322}"/>
              </a:ext>
            </a:extLst>
          </p:cNvPr>
          <p:cNvSpPr txBox="1"/>
          <p:nvPr/>
        </p:nvSpPr>
        <p:spPr>
          <a:xfrm>
            <a:off x="7948072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A8A448-B1E9-5832-77DE-94F0A8A2F7D7}"/>
              </a:ext>
            </a:extLst>
          </p:cNvPr>
          <p:cNvSpPr txBox="1"/>
          <p:nvPr/>
        </p:nvSpPr>
        <p:spPr>
          <a:xfrm>
            <a:off x="-2069106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5A5BD-72E8-5A5F-1961-1C1544BFFF57}"/>
              </a:ext>
            </a:extLst>
          </p:cNvPr>
          <p:cNvSpPr txBox="1"/>
          <p:nvPr/>
        </p:nvSpPr>
        <p:spPr>
          <a:xfrm>
            <a:off x="3021070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5B5A83-32F8-44E8-B4A8-74C9C873D4F8}"/>
              </a:ext>
            </a:extLst>
          </p:cNvPr>
          <p:cNvSpPr txBox="1"/>
          <p:nvPr/>
        </p:nvSpPr>
        <p:spPr>
          <a:xfrm>
            <a:off x="515256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2397E1-7B86-85D6-57D9-1DF10D5343C8}"/>
              </a:ext>
            </a:extLst>
          </p:cNvPr>
          <p:cNvSpPr txBox="1"/>
          <p:nvPr/>
        </p:nvSpPr>
        <p:spPr>
          <a:xfrm>
            <a:off x="7720049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2E6B0F-06E6-F62C-7016-D919CDFEC26B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2FEEEB-26F5-07C6-57F2-05E8D400123D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16810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B53E0-069C-52E8-21DC-6CFC92755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AF48-9778-0958-ADB2-F4B9BA1B8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Paper 1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D732A4-CC09-F7E4-EC70-670CF26F8B5E}"/>
              </a:ext>
            </a:extLst>
          </p:cNvPr>
          <p:cNvSpPr txBox="1"/>
          <p:nvPr/>
        </p:nvSpPr>
        <p:spPr>
          <a:xfrm>
            <a:off x="-7556951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F01D8-4FDC-E874-CE56-9C02A8020153}"/>
              </a:ext>
            </a:extLst>
          </p:cNvPr>
          <p:cNvSpPr txBox="1"/>
          <p:nvPr/>
        </p:nvSpPr>
        <p:spPr>
          <a:xfrm>
            <a:off x="-4374733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2FF21B-10D9-7F88-F66C-83D279414C9F}"/>
              </a:ext>
            </a:extLst>
          </p:cNvPr>
          <p:cNvSpPr txBox="1"/>
          <p:nvPr/>
        </p:nvSpPr>
        <p:spPr>
          <a:xfrm>
            <a:off x="-1790371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7CEAAE-A546-5C15-91FC-D350AD9E88A9}"/>
              </a:ext>
            </a:extLst>
          </p:cNvPr>
          <p:cNvSpPr txBox="1"/>
          <p:nvPr/>
        </p:nvSpPr>
        <p:spPr>
          <a:xfrm>
            <a:off x="715443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4D65D5-9098-3B42-9EFB-26FD7029E00C}"/>
              </a:ext>
            </a:extLst>
          </p:cNvPr>
          <p:cNvSpPr txBox="1"/>
          <p:nvPr/>
        </p:nvSpPr>
        <p:spPr>
          <a:xfrm>
            <a:off x="5414422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CA40D-89EB-2352-10B8-1806F37A5022}"/>
              </a:ext>
            </a:extLst>
          </p:cNvPr>
          <p:cNvSpPr txBox="1"/>
          <p:nvPr/>
        </p:nvSpPr>
        <p:spPr>
          <a:xfrm>
            <a:off x="-4602756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AB01C2-E562-B284-38A1-AA9E712A137B}"/>
              </a:ext>
            </a:extLst>
          </p:cNvPr>
          <p:cNvSpPr txBox="1"/>
          <p:nvPr/>
        </p:nvSpPr>
        <p:spPr>
          <a:xfrm>
            <a:off x="487420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C98D3C-C79E-EE6E-1FDC-664ADF3F0E89}"/>
              </a:ext>
            </a:extLst>
          </p:cNvPr>
          <p:cNvSpPr txBox="1"/>
          <p:nvPr/>
        </p:nvSpPr>
        <p:spPr>
          <a:xfrm>
            <a:off x="-201839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E84848-7E49-D83F-587D-56AC7D4C8D0B}"/>
              </a:ext>
            </a:extLst>
          </p:cNvPr>
          <p:cNvSpPr txBox="1"/>
          <p:nvPr/>
        </p:nvSpPr>
        <p:spPr>
          <a:xfrm>
            <a:off x="5186399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459E97-C51A-3715-23B0-40D158402733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FA1759-2F92-9BAA-563A-476E4D8DD9C1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81817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C9335-249D-41AD-20DF-0FE32EEFF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A24A8-C70F-81D5-CBA2-7066CB787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Paper 2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D4848F-6311-D855-6613-1D75DD32E932}"/>
              </a:ext>
            </a:extLst>
          </p:cNvPr>
          <p:cNvSpPr txBox="1"/>
          <p:nvPr/>
        </p:nvSpPr>
        <p:spPr>
          <a:xfrm>
            <a:off x="-7556951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DD5BDF-FE9F-8D0A-28A6-C8081E3C5B1F}"/>
              </a:ext>
            </a:extLst>
          </p:cNvPr>
          <p:cNvSpPr txBox="1"/>
          <p:nvPr/>
        </p:nvSpPr>
        <p:spPr>
          <a:xfrm>
            <a:off x="-4374733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1A82B-D425-DFF5-E417-DA1D5C68C24B}"/>
              </a:ext>
            </a:extLst>
          </p:cNvPr>
          <p:cNvSpPr txBox="1"/>
          <p:nvPr/>
        </p:nvSpPr>
        <p:spPr>
          <a:xfrm>
            <a:off x="-1790371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503B14-0CAC-1BA1-F968-C9F91E1301D7}"/>
              </a:ext>
            </a:extLst>
          </p:cNvPr>
          <p:cNvSpPr txBox="1"/>
          <p:nvPr/>
        </p:nvSpPr>
        <p:spPr>
          <a:xfrm>
            <a:off x="715443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99A2EF-173A-A6EA-2376-5DFAB7B7C6CD}"/>
              </a:ext>
            </a:extLst>
          </p:cNvPr>
          <p:cNvSpPr txBox="1"/>
          <p:nvPr/>
        </p:nvSpPr>
        <p:spPr>
          <a:xfrm>
            <a:off x="5414422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78B023-8EAE-9F2C-2005-7A2FE29D90AE}"/>
              </a:ext>
            </a:extLst>
          </p:cNvPr>
          <p:cNvSpPr txBox="1"/>
          <p:nvPr/>
        </p:nvSpPr>
        <p:spPr>
          <a:xfrm>
            <a:off x="-4602756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434C33-2E26-515A-9BBE-D90980DE592F}"/>
              </a:ext>
            </a:extLst>
          </p:cNvPr>
          <p:cNvSpPr txBox="1"/>
          <p:nvPr/>
        </p:nvSpPr>
        <p:spPr>
          <a:xfrm>
            <a:off x="487420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EC9B21-9534-43C0-1864-CF0DAB4D2C1A}"/>
              </a:ext>
            </a:extLst>
          </p:cNvPr>
          <p:cNvSpPr txBox="1"/>
          <p:nvPr/>
        </p:nvSpPr>
        <p:spPr>
          <a:xfrm>
            <a:off x="-201839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481D9-7AFA-34B7-92DE-2B0EB1C1AC7F}"/>
              </a:ext>
            </a:extLst>
          </p:cNvPr>
          <p:cNvSpPr txBox="1"/>
          <p:nvPr/>
        </p:nvSpPr>
        <p:spPr>
          <a:xfrm>
            <a:off x="5186399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2B3E9E-FC02-F64A-CED7-F46C72876484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5B431C-B7FF-8CBB-54A1-4D262A13C1E9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181888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0D270-A5F8-B966-E908-20B771EF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95B6C-600B-1EDC-8DC7-4A502788A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Limitations in Literature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D5911F-5BB3-8035-53C0-6A4D6BC39438}"/>
              </a:ext>
            </a:extLst>
          </p:cNvPr>
          <p:cNvSpPr txBox="1"/>
          <p:nvPr/>
        </p:nvSpPr>
        <p:spPr>
          <a:xfrm>
            <a:off x="-12274346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6292C5-63B2-8D4F-52B4-0F9808D9D393}"/>
              </a:ext>
            </a:extLst>
          </p:cNvPr>
          <p:cNvSpPr txBox="1"/>
          <p:nvPr/>
        </p:nvSpPr>
        <p:spPr>
          <a:xfrm>
            <a:off x="-9092128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58ABC7-9C7E-5C07-C48A-00B089213D5C}"/>
              </a:ext>
            </a:extLst>
          </p:cNvPr>
          <p:cNvSpPr txBox="1"/>
          <p:nvPr/>
        </p:nvSpPr>
        <p:spPr>
          <a:xfrm>
            <a:off x="-6507766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BDA52-6FEA-ABB6-3C99-96AB1C9BB2B4}"/>
              </a:ext>
            </a:extLst>
          </p:cNvPr>
          <p:cNvSpPr txBox="1"/>
          <p:nvPr/>
        </p:nvSpPr>
        <p:spPr>
          <a:xfrm>
            <a:off x="-4001952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7FC8AE-5FD6-AE08-3B12-9A9188532C6E}"/>
              </a:ext>
            </a:extLst>
          </p:cNvPr>
          <p:cNvSpPr txBox="1"/>
          <p:nvPr/>
        </p:nvSpPr>
        <p:spPr>
          <a:xfrm>
            <a:off x="697027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AC0F7-CB62-F7F8-AFA1-6017E9CCC094}"/>
              </a:ext>
            </a:extLst>
          </p:cNvPr>
          <p:cNvSpPr txBox="1"/>
          <p:nvPr/>
        </p:nvSpPr>
        <p:spPr>
          <a:xfrm>
            <a:off x="-9320151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58296-C94B-A543-1D08-DFFF27CCA9EE}"/>
              </a:ext>
            </a:extLst>
          </p:cNvPr>
          <p:cNvSpPr txBox="1"/>
          <p:nvPr/>
        </p:nvSpPr>
        <p:spPr>
          <a:xfrm>
            <a:off x="-4229975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A0D9F0-6934-05CA-904E-FB5D628DCACB}"/>
              </a:ext>
            </a:extLst>
          </p:cNvPr>
          <p:cNvSpPr txBox="1"/>
          <p:nvPr/>
        </p:nvSpPr>
        <p:spPr>
          <a:xfrm>
            <a:off x="-6735789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333DF0-1F2F-CFD8-883B-46509F7A19AC}"/>
              </a:ext>
            </a:extLst>
          </p:cNvPr>
          <p:cNvSpPr txBox="1"/>
          <p:nvPr/>
        </p:nvSpPr>
        <p:spPr>
          <a:xfrm>
            <a:off x="46900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CD3E47-F92C-3E5A-3E4B-8CF64C646FE4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0507D20-F605-B661-FEE8-3E3165D579AF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865334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ECEC0-8EE7-8A92-43E7-BA3942E0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6C88-6B2E-284D-EC04-500FD089D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Thesis Plan &amp; Timeline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4764A7-D33A-CF0E-8950-80AEDB1D2341}"/>
              </a:ext>
            </a:extLst>
          </p:cNvPr>
          <p:cNvSpPr txBox="1"/>
          <p:nvPr/>
        </p:nvSpPr>
        <p:spPr>
          <a:xfrm>
            <a:off x="-12274346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0B9FE4-2072-75EE-7B49-352EB6AE7EFA}"/>
              </a:ext>
            </a:extLst>
          </p:cNvPr>
          <p:cNvSpPr txBox="1"/>
          <p:nvPr/>
        </p:nvSpPr>
        <p:spPr>
          <a:xfrm>
            <a:off x="-9092128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144EFA-3527-964F-F4CD-0B5F6C6691F9}"/>
              </a:ext>
            </a:extLst>
          </p:cNvPr>
          <p:cNvSpPr txBox="1"/>
          <p:nvPr/>
        </p:nvSpPr>
        <p:spPr>
          <a:xfrm>
            <a:off x="-6507766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37DC8-0A35-F29C-4CDC-D783DBE54707}"/>
              </a:ext>
            </a:extLst>
          </p:cNvPr>
          <p:cNvSpPr txBox="1"/>
          <p:nvPr/>
        </p:nvSpPr>
        <p:spPr>
          <a:xfrm>
            <a:off x="-4001952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F0F2C8-D6A2-FE1B-27CF-732E0CA18A88}"/>
              </a:ext>
            </a:extLst>
          </p:cNvPr>
          <p:cNvSpPr txBox="1"/>
          <p:nvPr/>
        </p:nvSpPr>
        <p:spPr>
          <a:xfrm>
            <a:off x="697027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BA480-2CF7-875A-DBD3-E349AF0F999C}"/>
              </a:ext>
            </a:extLst>
          </p:cNvPr>
          <p:cNvSpPr txBox="1"/>
          <p:nvPr/>
        </p:nvSpPr>
        <p:spPr>
          <a:xfrm>
            <a:off x="-9320151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E9A2A-1BC4-06F9-C229-DB0F9DD84A8D}"/>
              </a:ext>
            </a:extLst>
          </p:cNvPr>
          <p:cNvSpPr txBox="1"/>
          <p:nvPr/>
        </p:nvSpPr>
        <p:spPr>
          <a:xfrm>
            <a:off x="-4229975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023E97-2769-99D0-B12C-2ACAEBDAF7E3}"/>
              </a:ext>
            </a:extLst>
          </p:cNvPr>
          <p:cNvSpPr txBox="1"/>
          <p:nvPr/>
        </p:nvSpPr>
        <p:spPr>
          <a:xfrm>
            <a:off x="-6735789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489E15-538F-29BB-F41C-5E1EE367C65E}"/>
              </a:ext>
            </a:extLst>
          </p:cNvPr>
          <p:cNvSpPr txBox="1"/>
          <p:nvPr/>
        </p:nvSpPr>
        <p:spPr>
          <a:xfrm>
            <a:off x="46900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4A204-2283-B082-F613-3C3F17E8EC4C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E54CCF-922C-4F89-65CA-AFA8BDA99D3D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197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6ECEC-426B-DF50-C721-B3727A67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0D994-8D15-338F-0603-4490CC4A8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Conclusion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8058C7-5FDA-9155-39E6-0AA1E1BF81D8}"/>
              </a:ext>
            </a:extLst>
          </p:cNvPr>
          <p:cNvSpPr txBox="1"/>
          <p:nvPr/>
        </p:nvSpPr>
        <p:spPr>
          <a:xfrm>
            <a:off x="-12274346" y="6290510"/>
            <a:ext cx="3182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Introduction &amp; 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98238A-F3AD-C241-0A4F-2199BEE8C30E}"/>
              </a:ext>
            </a:extLst>
          </p:cNvPr>
          <p:cNvSpPr txBox="1"/>
          <p:nvPr/>
        </p:nvSpPr>
        <p:spPr>
          <a:xfrm>
            <a:off x="-9092128" y="6290510"/>
            <a:ext cx="25843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Literature Landscape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70CDE3-043A-B124-5502-D4EE5CC0DDEA}"/>
              </a:ext>
            </a:extLst>
          </p:cNvPr>
          <p:cNvSpPr txBox="1"/>
          <p:nvPr/>
        </p:nvSpPr>
        <p:spPr>
          <a:xfrm>
            <a:off x="-6507766" y="6290510"/>
            <a:ext cx="25058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Model Architectures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9B077C-93ED-B363-9E18-23607B371518}"/>
              </a:ext>
            </a:extLst>
          </p:cNvPr>
          <p:cNvSpPr txBox="1"/>
          <p:nvPr/>
        </p:nvSpPr>
        <p:spPr>
          <a:xfrm>
            <a:off x="-4001952" y="6290510"/>
            <a:ext cx="4698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Deep Dives: Two Representative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F879D-1DE9-A1D2-4D00-5CF6E5762A38}"/>
              </a:ext>
            </a:extLst>
          </p:cNvPr>
          <p:cNvSpPr txBox="1"/>
          <p:nvPr/>
        </p:nvSpPr>
        <p:spPr>
          <a:xfrm>
            <a:off x="697027" y="6290510"/>
            <a:ext cx="3443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/>
              <a:t>Real-Time Focus &amp; Onwards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E733FD-63C0-A40F-339D-3CCC1F0C819D}"/>
              </a:ext>
            </a:extLst>
          </p:cNvPr>
          <p:cNvSpPr txBox="1"/>
          <p:nvPr/>
        </p:nvSpPr>
        <p:spPr>
          <a:xfrm>
            <a:off x="-9320151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8DA961-F19D-885A-D3C0-13C80379DE77}"/>
              </a:ext>
            </a:extLst>
          </p:cNvPr>
          <p:cNvSpPr txBox="1"/>
          <p:nvPr/>
        </p:nvSpPr>
        <p:spPr>
          <a:xfrm>
            <a:off x="-4229975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7CFC24-1920-8899-9A9C-D7A38026EAA9}"/>
              </a:ext>
            </a:extLst>
          </p:cNvPr>
          <p:cNvSpPr txBox="1"/>
          <p:nvPr/>
        </p:nvSpPr>
        <p:spPr>
          <a:xfrm>
            <a:off x="-6735789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D9429-F88B-FF5D-E806-1E5D289F30F1}"/>
              </a:ext>
            </a:extLst>
          </p:cNvPr>
          <p:cNvSpPr txBox="1"/>
          <p:nvPr/>
        </p:nvSpPr>
        <p:spPr>
          <a:xfrm>
            <a:off x="469004" y="6290510"/>
            <a:ext cx="3209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2000" dirty="0">
                <a:solidFill>
                  <a:schemeClr val="bg1">
                    <a:lumMod val="75000"/>
                  </a:schemeClr>
                </a:solidFill>
              </a:rPr>
              <a:t>|</a:t>
            </a:r>
            <a:endParaRPr lang="LID4096" sz="20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F136F9-30FA-52EC-35F0-367986C8B6FC}"/>
              </a:ext>
            </a:extLst>
          </p:cNvPr>
          <p:cNvSpPr/>
          <p:nvPr/>
        </p:nvSpPr>
        <p:spPr>
          <a:xfrm>
            <a:off x="11391900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373DFA-806E-6205-AB27-6E98C29886D6}"/>
              </a:ext>
            </a:extLst>
          </p:cNvPr>
          <p:cNvSpPr/>
          <p:nvPr/>
        </p:nvSpPr>
        <p:spPr>
          <a:xfrm>
            <a:off x="-293894" y="-246743"/>
            <a:ext cx="990921" cy="8316686"/>
          </a:xfrm>
          <a:prstGeom prst="rect">
            <a:avLst/>
          </a:prstGeom>
          <a:gradFill>
            <a:gsLst>
              <a:gs pos="80000">
                <a:srgbClr val="FFFFFF"/>
              </a:gs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12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457</Words>
  <Application>Microsoft Office PowerPoint</Application>
  <PresentationFormat>Widescreen</PresentationFormat>
  <Paragraphs>157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Calisto MT</vt:lpstr>
      <vt:lpstr>Times New Roman</vt:lpstr>
      <vt:lpstr>Univers Condensed</vt:lpstr>
      <vt:lpstr>ChronicleVTI</vt:lpstr>
      <vt:lpstr>Towards Real-Time Human Motion Prediction using Data-Driven and Physics-Based Models</vt:lpstr>
      <vt:lpstr>Contents</vt:lpstr>
      <vt:lpstr>Motivation &amp; Context</vt:lpstr>
      <vt:lpstr>Research Scope &amp; Goal</vt:lpstr>
      <vt:lpstr>Methodology</vt:lpstr>
      <vt:lpstr>Thematic Breakdown – Pedestrian Intent PRediction</vt:lpstr>
      <vt:lpstr>Thematic Breakdown – Intent Prediction in HRI </vt:lpstr>
      <vt:lpstr>Thematic Breakdown – Human Motion Prediction</vt:lpstr>
      <vt:lpstr>Key Techniques &amp; Trends</vt:lpstr>
      <vt:lpstr>Paper 1</vt:lpstr>
      <vt:lpstr>Paper 2</vt:lpstr>
      <vt:lpstr>Limitations in Literature</vt:lpstr>
      <vt:lpstr>Thesis Plan &amp; Timeline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Hutani</dc:creator>
  <cp:lastModifiedBy>Andrew Hutani</cp:lastModifiedBy>
  <cp:revision>1</cp:revision>
  <dcterms:created xsi:type="dcterms:W3CDTF">2025-05-21T10:43:08Z</dcterms:created>
  <dcterms:modified xsi:type="dcterms:W3CDTF">2025-05-21T16:56:38Z</dcterms:modified>
</cp:coreProperties>
</file>